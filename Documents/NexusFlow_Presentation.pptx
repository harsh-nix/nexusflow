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the project name, and the one-line pitch: NexusFlow is a full-stack enterprise project and task collaboration platform built solo, end to end. Mention the guide's name and thank the mentor for their time before moving to the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the mentor already knows the general pain points of scattered tooling. The key point to land: NexusFlow's actual differentiator isn't the CRUD (any project has that) — it's that a task assignment leads somewhere, not just a notification with no follow-up.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objectives, each one maps directly to a module you'll show later. Emphasize objective 2 — workflow-driven collaboration — since that's the core thing that separates this from a basic CRUD project management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technical inventory. If asked why Clean Architecture for a solo project — the honest answer is it kept the 4-layer separation enforceable even while working alone, and made the later workflow-feature addition a contained change instead of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top to bottom: a request enters through Angular, hits an API controller, flows into an Application service, which operates on Domain entities via the Infrastructure layer's repositories — all coordinated through one Unit of Work per request so a partial failure can't leave the database half-updated.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modules, all working end to end. Workflow Engine (highlighted) is the newest and most substantial addition — it's what turns Task Management from a CRUD list into an actual collaboration loop. Happy to open the live app and demo any one of these on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loop that answers the review question 'what happens after you assign a task?' Walk it left to right, top row then bottom row: a task is created under a project, assigned to a user, who gets a clickable notification, accepts it, can request clarification if the brief is unclear, the manager responds, status updates flow through with an optional work-log note, every step is captured in the Activity Timeline, and it ends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five are the features most worth demoing live if there's time. The ownership checks point is worth emphasizing — it's enforced server-side in the service layer, not just hidden in the UI, so a user can't call the API directly to bypass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screenshots from the running application, not mockups. Point out the notification panel specifically — the entries visible there ('Task Accepted', 'Clarification Requested', 'Task Status Updated') are the workflow engine's actual output, captured mid-testing.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4-role model exists in the schema and JWT claims today; enforcement of role-specific restrictions on every endpoint is still being tightened — worth mentioning proactively if asked, rather than letting it surface as a gap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 scope items are listed honestly as not-yet-built, matching what's in the project report's own Limitations chapter — don't oversell any of these as already done if asked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Close, invite questions. Have the live app ready in a browser tab in case the mentor wants a live walkthrough of the Accept -&gt; Clarify -&gt; Respond loop instead of just the workflow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17153A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640080" cy="640080"/>
          </a:xfrm>
          <a:prstGeom prst="ellipse">
            <a:avLst/>
          </a:prstGeom>
          <a:solidFill>
            <a:srgbClr val="6D63E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989381"/>
            <a:ext cx="307238" cy="3072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NexusFlow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82296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Project &amp; Team Collaboration Platform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22960" y="3794760"/>
            <a:ext cx="5669280" cy="0"/>
          </a:xfrm>
          <a:prstGeom prst="line">
            <a:avLst/>
          </a:prstGeom>
          <a:noFill/>
          <a:ln w="12700">
            <a:solidFill>
              <a:srgbClr val="3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069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88920" y="40416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 Mishra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44897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788920" y="446227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04613702025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49103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88920" y="488289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Information Technology &amp; Management, New Delhi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53309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788920" y="5303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 Kumar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NexusFlow Was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DEDE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 Problems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6771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0472" y="2121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scattered across chat, sheets, and docs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90472" y="238658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source of truth for project status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301752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13639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90472" y="29900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assigned with no follow-through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90472" y="325526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ends at a message — no defined next step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90472" y="38587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are dead-ends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490472" y="412394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alert with nowhere to click and nothing to act on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8680" y="4754880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87375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90472" y="47274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audit trail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490472" y="499262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changed what, and when, is impossible to reconstruct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217920" y="141732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EEF0FF"/>
          </a:solidFill>
          <a:ln/>
        </p:spPr>
      </p:sp>
      <p:sp>
        <p:nvSpPr>
          <p:cNvPr id="23" name="Text 17"/>
          <p:cNvSpPr/>
          <p:nvPr/>
        </p:nvSpPr>
        <p:spPr>
          <a:xfrm>
            <a:off x="6537960" y="16459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NexusFlow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6537960" y="214884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267712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59752" y="2121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workspace, one workflow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7159752" y="238658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tasks, and discussion in a single system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537960" y="30175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136392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159752" y="29900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notification is actionable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7159752" y="325526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one opens the exact task it's about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6537960" y="388620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2" y="4005072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59752" y="38587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task lifecycle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7159752" y="412394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→ Accept → Clarify → Update → Complete</a:t>
            </a:r>
            <a:endParaRPr lang="en-US" sz="1150" dirty="0"/>
          </a:p>
        </p:txBody>
      </p:sp>
      <p:sp>
        <p:nvSpPr>
          <p:cNvPr id="36" name="Shape 27"/>
          <p:cNvSpPr/>
          <p:nvPr/>
        </p:nvSpPr>
        <p:spPr>
          <a:xfrm>
            <a:off x="6537960" y="47548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832" y="4873752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159752" y="47274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accountability</a:t>
            </a:r>
            <a:endParaRPr lang="en-US" sz="1500" dirty="0"/>
          </a:p>
        </p:txBody>
      </p:sp>
      <p:sp>
        <p:nvSpPr>
          <p:cNvPr id="39" name="Text 29"/>
          <p:cNvSpPr/>
          <p:nvPr/>
        </p:nvSpPr>
        <p:spPr>
          <a:xfrm>
            <a:off x="7159752" y="499262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activity timeline for every task, from creation to close</a:t>
            </a:r>
            <a:endParaRPr lang="en-US" sz="1150" dirty="0"/>
          </a:p>
        </p:txBody>
      </p:sp>
      <p:sp>
        <p:nvSpPr>
          <p:cNvPr id="40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41" name="Text 3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92224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110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Project Management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400800" y="169164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place to create, track, and manage projects and their tasks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569464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76148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88036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660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Workflow-Driven Task Collaboration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00800" y="2660904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assignment carries a defined path: accept, clarify, update, complete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38728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730752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849624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6301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Real-Time Notifications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00800" y="3630168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deep-link straight to the task they're about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507992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700016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81888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599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Accountability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400800" y="4599432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audit-backed activity timeline for every task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5477256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56692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5788152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08760" y="55686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Role-Aware Access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6400800" y="5568696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 with a 4-role model: Admin, Project Manager, Team Member, Client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Technologies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1383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423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20 (Standalone)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Material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43400" y="15544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78308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2759" y="191383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423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200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(.NET)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Framework Core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38160" y="15544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66760" y="178308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519" y="191383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66760" y="24231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36676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Migrations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77240" y="41148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24555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754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7724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Tokens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claims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43400" y="3886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72000" y="41148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2759" y="424555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4754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7200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+ Unit of Work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38160" y="3886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66760" y="41148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519" y="424555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366760" y="4754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Libraries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36676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FluentValidation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8595360" cy="841248"/>
          </a:xfrm>
          <a:prstGeom prst="roundRect">
            <a:avLst>
              <a:gd name="adj" fmla="val 8696"/>
            </a:avLst>
          </a:prstGeom>
          <a:solidFill>
            <a:srgbClr val="6D63E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1600200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20 · Standalone Components · Angular Material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2331720"/>
            <a:ext cx="256032" cy="2560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496312"/>
            <a:ext cx="8595360" cy="841248"/>
          </a:xfrm>
          <a:prstGeom prst="roundRect">
            <a:avLst>
              <a:gd name="adj" fmla="val 8696"/>
            </a:avLst>
          </a:prstGeom>
          <a:solidFill>
            <a:srgbClr val="4F46E5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8775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291840" y="2587752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Controllers · JWT Middleware · Validation Filter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319272"/>
            <a:ext cx="256032" cy="2560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48640" y="3483864"/>
            <a:ext cx="8595360" cy="841248"/>
          </a:xfrm>
          <a:prstGeom prst="roundRect">
            <a:avLst>
              <a:gd name="adj" fmla="val 8696"/>
            </a:avLst>
          </a:prstGeom>
          <a:solidFill>
            <a:srgbClr val="4338CA"/>
          </a:solidFill>
          <a:ln/>
        </p:spPr>
      </p:sp>
      <p:sp>
        <p:nvSpPr>
          <p:cNvPr id="13" name="Text 9"/>
          <p:cNvSpPr/>
          <p:nvPr/>
        </p:nvSpPr>
        <p:spPr>
          <a:xfrm>
            <a:off x="822960" y="35753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291840" y="3575304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DTOs · AutoMapper · FluentValidation</a:t>
            </a:r>
            <a:endParaRPr lang="en-US" sz="11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4306824"/>
            <a:ext cx="256032" cy="25603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471416"/>
            <a:ext cx="8595360" cy="841248"/>
          </a:xfrm>
          <a:prstGeom prst="roundRect">
            <a:avLst>
              <a:gd name="adj" fmla="val 8696"/>
            </a:avLst>
          </a:prstGeom>
          <a:solidFill>
            <a:srgbClr val="3730A3"/>
          </a:solidFill>
          <a:ln/>
        </p:spPr>
      </p:sp>
      <p:sp>
        <p:nvSpPr>
          <p:cNvPr id="17" name="Text 12"/>
          <p:cNvSpPr/>
          <p:nvPr/>
        </p:nvSpPr>
        <p:spPr>
          <a:xfrm>
            <a:off x="822960" y="45628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3291840" y="4562856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· Enums · Business Rules</a:t>
            </a:r>
            <a:endParaRPr lang="en-US" sz="11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5294376"/>
            <a:ext cx="256032" cy="2560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48640" y="5458968"/>
            <a:ext cx="8595360" cy="841248"/>
          </a:xfrm>
          <a:prstGeom prst="roundRect">
            <a:avLst>
              <a:gd name="adj" fmla="val 8696"/>
            </a:avLst>
          </a:prstGeom>
          <a:solidFill>
            <a:srgbClr val="312E81"/>
          </a:solidFill>
          <a:ln/>
        </p:spPr>
      </p:sp>
      <p:sp>
        <p:nvSpPr>
          <p:cNvPr id="21" name="Text 15"/>
          <p:cNvSpPr/>
          <p:nvPr/>
        </p:nvSpPr>
        <p:spPr>
          <a:xfrm>
            <a:off x="822960" y="5550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3291840" y="5550408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4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· Repository Pattern · Unit of Work · SQL Server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64040" y="1508760"/>
            <a:ext cx="2194560" cy="2103120"/>
          </a:xfrm>
          <a:prstGeom prst="roundRect">
            <a:avLst>
              <a:gd name="adj" fmla="val 4348"/>
            </a:avLst>
          </a:prstGeom>
          <a:solidFill>
            <a:srgbClr val="EEF0FF"/>
          </a:solidFill>
          <a:ln/>
        </p:spPr>
      </p:sp>
      <p:sp>
        <p:nvSpPr>
          <p:cNvPr id="24" name="Shape 18"/>
          <p:cNvSpPr/>
          <p:nvPr/>
        </p:nvSpPr>
        <p:spPr>
          <a:xfrm>
            <a:off x="9692640" y="17373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1856232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4692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Pattern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9646920" y="257860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data access, decoupled from EF Core specifics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464040" y="3794760"/>
            <a:ext cx="2194560" cy="2103120"/>
          </a:xfrm>
          <a:prstGeom prst="roundRect">
            <a:avLst>
              <a:gd name="adj" fmla="val 4348"/>
            </a:avLst>
          </a:prstGeom>
          <a:solidFill>
            <a:srgbClr val="EEF0FF"/>
          </a:solidFill>
          <a:ln/>
        </p:spPr>
      </p:sp>
      <p:sp>
        <p:nvSpPr>
          <p:cNvPr id="29" name="Shape 22"/>
          <p:cNvSpPr/>
          <p:nvPr/>
        </p:nvSpPr>
        <p:spPr>
          <a:xfrm>
            <a:off x="9692640" y="40233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414223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646920" y="4572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of Work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9646920" y="486460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boundary across multiple repositories per request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5564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7452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35915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31520" y="285292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login, register, secured routes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64992" y="155448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75564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87452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47872" y="235915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547872" y="285292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stats, task &amp; project charts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81344" y="155448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82512" y="175564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87452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64224" y="235915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364224" y="285292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edit, track progress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997696" y="155448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98864" y="175564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736" y="1874520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80576" y="235915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Management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180576" y="285292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lifecycle, priority, due dates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370332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390448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31520" y="450799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&amp; Collaboration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31520" y="500176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Threaded discussion per task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364992" y="370332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3566160" y="390448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5032" y="4023360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547872" y="450799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547872" y="500176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clickable, deep-linked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81344" y="3703320"/>
            <a:ext cx="2633472" cy="1965960"/>
          </a:xfrm>
          <a:prstGeom prst="roundRect">
            <a:avLst>
              <a:gd name="adj" fmla="val 5581"/>
            </a:avLst>
          </a:prstGeom>
          <a:solidFill>
            <a:srgbClr val="EEF0FF"/>
          </a:solidFill>
          <a:ln w="19050">
            <a:solidFill>
              <a:srgbClr val="4F46E5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6382512" y="3904488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384" y="4023360"/>
            <a:ext cx="219456" cy="2194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364224" y="450799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Engine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364224" y="5001768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· Clarify · Update · Log</a:t>
            </a:r>
            <a:endParaRPr lang="en-US" sz="1000" dirty="0"/>
          </a:p>
        </p:txBody>
      </p:sp>
      <p:sp>
        <p:nvSpPr>
          <p:cNvPr id="39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LOOP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Lifecycle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" y="207568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439" y="2372868"/>
            <a:ext cx="237744" cy="2377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73782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5010" y="2075688"/>
            <a:ext cx="329184" cy="32918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419502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Task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022" y="2372868"/>
            <a:ext cx="237744" cy="2377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4290365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593" y="2075688"/>
            <a:ext cx="329184" cy="32918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336085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User</a:t>
            </a:r>
            <a:endParaRPr lang="en-US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604" y="2372868"/>
            <a:ext cx="237744" cy="237744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206947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8175" y="2075688"/>
            <a:ext cx="329184" cy="329184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6252667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05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2186" y="2372868"/>
            <a:ext cx="237744" cy="237744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8123530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2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4758" y="2075688"/>
            <a:ext cx="329184" cy="329184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8169250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Task</a:t>
            </a:r>
            <a:endParaRPr lang="en-US" sz="1050" dirty="0"/>
          </a:p>
        </p:txBody>
      </p:sp>
      <p:pic>
        <p:nvPicPr>
          <p:cNvPr id="2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8769" y="2372868"/>
            <a:ext cx="237744" cy="237744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10040112" y="196596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2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21340" y="2075688"/>
            <a:ext cx="329184" cy="329184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10085832" y="24414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Clarification</a:t>
            </a:r>
            <a:endParaRPr lang="en-US" sz="1050" dirty="0"/>
          </a:p>
        </p:txBody>
      </p:sp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67060" y="3054096"/>
            <a:ext cx="237744" cy="237744"/>
          </a:xfrm>
          <a:prstGeom prst="rect">
            <a:avLst/>
          </a:prstGeom>
        </p:spPr>
      </p:pic>
      <p:sp>
        <p:nvSpPr>
          <p:cNvPr id="28" name="Shape 14"/>
          <p:cNvSpPr/>
          <p:nvPr/>
        </p:nvSpPr>
        <p:spPr>
          <a:xfrm>
            <a:off x="10040112" y="397764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2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21340" y="4087368"/>
            <a:ext cx="329184" cy="329184"/>
          </a:xfrm>
          <a:prstGeom prst="rect">
            <a:avLst/>
          </a:prstGeom>
        </p:spPr>
      </p:pic>
      <p:sp>
        <p:nvSpPr>
          <p:cNvPr id="30" name="Text 15"/>
          <p:cNvSpPr/>
          <p:nvPr/>
        </p:nvSpPr>
        <p:spPr>
          <a:xfrm>
            <a:off x="10085832" y="4453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Response</a:t>
            </a:r>
            <a:endParaRPr lang="en-US" sz="1050" dirty="0"/>
          </a:p>
        </p:txBody>
      </p:sp>
      <p:pic>
        <p:nvPicPr>
          <p:cNvPr id="3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10800000">
            <a:off x="9808769" y="4384548"/>
            <a:ext cx="237744" cy="237744"/>
          </a:xfrm>
          <a:prstGeom prst="rect">
            <a:avLst/>
          </a:prstGeom>
        </p:spPr>
      </p:pic>
      <p:sp>
        <p:nvSpPr>
          <p:cNvPr id="32" name="Shape 16"/>
          <p:cNvSpPr/>
          <p:nvPr/>
        </p:nvSpPr>
        <p:spPr>
          <a:xfrm>
            <a:off x="8123530" y="397764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3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04758" y="4087368"/>
            <a:ext cx="329184" cy="329184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8169250" y="4453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050" dirty="0"/>
          </a:p>
        </p:txBody>
      </p:sp>
      <p:pic>
        <p:nvPicPr>
          <p:cNvPr id="3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0800000">
            <a:off x="7892186" y="4384548"/>
            <a:ext cx="237744" cy="237744"/>
          </a:xfrm>
          <a:prstGeom prst="rect">
            <a:avLst/>
          </a:prstGeom>
        </p:spPr>
      </p:pic>
      <p:sp>
        <p:nvSpPr>
          <p:cNvPr id="36" name="Shape 18"/>
          <p:cNvSpPr/>
          <p:nvPr/>
        </p:nvSpPr>
        <p:spPr>
          <a:xfrm>
            <a:off x="6206947" y="397764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37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88175" y="4087368"/>
            <a:ext cx="329184" cy="329184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6252667" y="4453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Log</a:t>
            </a:r>
            <a:endParaRPr lang="en-US" sz="1050" dirty="0"/>
          </a:p>
        </p:txBody>
      </p:sp>
      <p:pic>
        <p:nvPicPr>
          <p:cNvPr id="39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10800000">
            <a:off x="5975604" y="4384548"/>
            <a:ext cx="237744" cy="237744"/>
          </a:xfrm>
          <a:prstGeom prst="rect">
            <a:avLst/>
          </a:prstGeom>
        </p:spPr>
      </p:pic>
      <p:sp>
        <p:nvSpPr>
          <p:cNvPr id="40" name="Shape 20"/>
          <p:cNvSpPr/>
          <p:nvPr/>
        </p:nvSpPr>
        <p:spPr>
          <a:xfrm>
            <a:off x="4290365" y="397764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2E2A6B"/>
          </a:solidFill>
          <a:ln w="12700">
            <a:solidFill>
              <a:srgbClr val="4A4490"/>
            </a:solidFill>
            <a:prstDash val="solid"/>
          </a:ln>
        </p:spPr>
      </p:sp>
      <p:pic>
        <p:nvPicPr>
          <p:cNvPr id="4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71593" y="4087368"/>
            <a:ext cx="329184" cy="329184"/>
          </a:xfrm>
          <a:prstGeom prst="rect">
            <a:avLst/>
          </a:prstGeom>
        </p:spPr>
      </p:pic>
      <p:sp>
        <p:nvSpPr>
          <p:cNvPr id="42" name="Text 21"/>
          <p:cNvSpPr/>
          <p:nvPr/>
        </p:nvSpPr>
        <p:spPr>
          <a:xfrm>
            <a:off x="4336085" y="4453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Timeline</a:t>
            </a:r>
            <a:endParaRPr lang="en-US" sz="1050" dirty="0"/>
          </a:p>
        </p:txBody>
      </p:sp>
      <p:pic>
        <p:nvPicPr>
          <p:cNvPr id="4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10800000">
            <a:off x="4059022" y="4384548"/>
            <a:ext cx="237744" cy="237744"/>
          </a:xfrm>
          <a:prstGeom prst="rect">
            <a:avLst/>
          </a:prstGeom>
        </p:spPr>
      </p:pic>
      <p:sp>
        <p:nvSpPr>
          <p:cNvPr id="44" name="Shape 22"/>
          <p:cNvSpPr/>
          <p:nvPr/>
        </p:nvSpPr>
        <p:spPr>
          <a:xfrm>
            <a:off x="2373782" y="3977640"/>
            <a:ext cx="1691640" cy="1051560"/>
          </a:xfrm>
          <a:prstGeom prst="roundRect">
            <a:avLst>
              <a:gd name="adj" fmla="val 869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055010" y="4087368"/>
            <a:ext cx="329184" cy="329184"/>
          </a:xfrm>
          <a:prstGeom prst="rect">
            <a:avLst/>
          </a:prstGeom>
        </p:spPr>
      </p:pic>
      <p:sp>
        <p:nvSpPr>
          <p:cNvPr id="46" name="Text 23"/>
          <p:cNvSpPr/>
          <p:nvPr/>
        </p:nvSpPr>
        <p:spPr>
          <a:xfrm>
            <a:off x="2419502" y="445312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Implemented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17309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581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Deep-Linked Notifications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263640" y="158191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Clicking a notification opens the exact task, not just a message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258568"/>
            <a:ext cx="1106424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" y="25996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450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/ Clarify / Respond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263640" y="245059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Ownership-checked actions — only an assignee can accept or ask a question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127248"/>
            <a:ext cx="1106424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346831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3192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Activity Timeline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263640" y="331927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status change and action is logged and visible per task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" y="433699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4187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6263640" y="418795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Task-status and project-split charts driven by real data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4864608"/>
            <a:ext cx="1106424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5205679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3444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Progress Tracking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263640" y="505663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percentage computed from actual task counts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5733288"/>
            <a:ext cx="1106424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Screenshots</a:t>
            </a:r>
            <a:endParaRPr lang="en-US" sz="3000" dirty="0"/>
          </a:p>
        </p:txBody>
      </p:sp>
      <p:pic>
        <p:nvPicPr>
          <p:cNvPr id="4" name="Image 0" descr="/mnt/user-data/uploads/Screenshot_2026-07-24_17352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520440" cy="2011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520440" cy="2011680"/>
          </a:xfrm>
          <a:prstGeom prst="rect">
            <a:avLst/>
          </a:prstGeom>
          <a:ln w="12700">
            <a:solidFill>
              <a:srgbClr val="E3E8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34747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pic>
        <p:nvPicPr>
          <p:cNvPr id="7" name="Image 1" descr="/mnt/user-data/uploads/Screenshot_2026-07-24_182038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417320"/>
            <a:ext cx="3520440" cy="20116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251960" y="1417320"/>
            <a:ext cx="3520440" cy="2011680"/>
          </a:xfrm>
          <a:prstGeom prst="rect">
            <a:avLst/>
          </a:prstGeom>
          <a:ln w="12700">
            <a:solidFill>
              <a:srgbClr val="E3E8E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251960" y="34747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pic>
        <p:nvPicPr>
          <p:cNvPr id="10" name="Image 2" descr="/mnt/user-data/uploads/Screenshot_2026-07-24_18210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417320"/>
            <a:ext cx="3520440" cy="2011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7955280" y="1417320"/>
            <a:ext cx="3520440" cy="2011680"/>
          </a:xfrm>
          <a:prstGeom prst="rect">
            <a:avLst/>
          </a:prstGeom>
          <a:ln w="12700">
            <a:solidFill>
              <a:srgbClr val="E3E8E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955280" y="34747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Tasks</a:t>
            </a:r>
            <a:endParaRPr lang="en-US" sz="1100" dirty="0"/>
          </a:p>
        </p:txBody>
      </p:sp>
      <p:pic>
        <p:nvPicPr>
          <p:cNvPr id="13" name="Image 3" descr="/mnt/user-data/uploads/Screenshot_2026-07-24_182123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395728" y="3749040"/>
            <a:ext cx="3520440" cy="201168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2395728" y="3749040"/>
            <a:ext cx="3520440" cy="2011680"/>
          </a:xfrm>
          <a:prstGeom prst="rect">
            <a:avLst/>
          </a:prstGeom>
          <a:ln w="12700">
            <a:solidFill>
              <a:srgbClr val="E3E8EF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395728" y="5806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pic>
        <p:nvPicPr>
          <p:cNvPr id="16" name="Image 4" descr="/mnt/user-data/uploads/Screenshot_2026-07-24_182203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099048" y="3749040"/>
            <a:ext cx="3520440" cy="201168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099048" y="3749040"/>
            <a:ext cx="3520440" cy="2011680"/>
          </a:xfrm>
          <a:prstGeom prst="rect">
            <a:avLst/>
          </a:prstGeom>
          <a:ln w="12700">
            <a:solidFill>
              <a:srgbClr val="E3E8E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6099048" y="580644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&amp; Target Users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EEF0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3134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0472" y="21671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90472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instead of scattered chats and sheets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31089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22783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90472" y="30815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task turnaround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90472" y="33467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next action at every stage of a task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68680" y="40233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14223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90472" y="39959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transparency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490472" y="42611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attributable and time-stamped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8680" y="49377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056632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90472" y="49103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foundation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1490472" y="51755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makes future features low-risk to add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217920" y="146304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6537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6537960" y="219456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313432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59752" y="21671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7159752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oversight and user management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537960" y="310896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3227832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159752" y="30815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7159752" y="33467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projects, assigns tasks, responds to clarifications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6537960" y="402336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2" y="4142232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59752" y="39959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7159752" y="42611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tasks, updates status, logs work</a:t>
            </a:r>
            <a:endParaRPr lang="en-US" sz="1150" dirty="0"/>
          </a:p>
        </p:txBody>
      </p:sp>
      <p:sp>
        <p:nvSpPr>
          <p:cNvPr id="36" name="Shape 27"/>
          <p:cNvSpPr/>
          <p:nvPr/>
        </p:nvSpPr>
        <p:spPr>
          <a:xfrm>
            <a:off x="6537960" y="493776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832" y="5056632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159752" y="49103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</p:txBody>
      </p:sp>
      <p:sp>
        <p:nvSpPr>
          <p:cNvPr id="39" name="Text 29"/>
          <p:cNvSpPr/>
          <p:nvPr/>
        </p:nvSpPr>
        <p:spPr>
          <a:xfrm>
            <a:off x="7159752" y="51755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project progress and outcomes</a:t>
            </a:r>
            <a:endParaRPr lang="en-US" sz="1150" dirty="0"/>
          </a:p>
        </p:txBody>
      </p:sp>
      <p:sp>
        <p:nvSpPr>
          <p:cNvPr id="40" name="Text 3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41" name="Text 31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FAFBFC"/>
          </a:solidFill>
          <a:ln w="12700">
            <a:solidFill>
              <a:srgbClr val="E3E8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3134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90472" y="21671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system, built solo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90472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frontend, ASP.NET Core backend, SQL Server — fully working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31546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27355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90472" y="31272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workflow, not just CRUD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490472" y="339242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Assign, accept, clarify, update, and track — with an audit trail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68680" y="411480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336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90472" y="40873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Production-oriented practices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490472" y="435254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Architecture, Repository + Unit of Work, DTO validation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17920" y="1463040"/>
            <a:ext cx="5394960" cy="4709160"/>
          </a:xfrm>
          <a:prstGeom prst="roundRect">
            <a:avLst>
              <a:gd name="adj" fmla="val 2330"/>
            </a:avLst>
          </a:prstGeom>
          <a:solidFill>
            <a:srgbClr val="EEF0FF"/>
          </a:solidFill>
          <a:ln/>
        </p:spPr>
      </p:sp>
      <p:sp>
        <p:nvSpPr>
          <p:cNvPr id="19" name="Text 14"/>
          <p:cNvSpPr/>
          <p:nvPr/>
        </p:nvSpPr>
        <p:spPr>
          <a:xfrm>
            <a:off x="6537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537960" y="219456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2313432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16712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role-based access control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159752" y="243230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the 4-role model on every endpoint, not just some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6537960" y="315468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3273552"/>
            <a:ext cx="219456" cy="21945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59752" y="312724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management UI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7159752" y="339242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Admin-managed departments and teams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537960" y="411480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2" y="4233672"/>
            <a:ext cx="219456" cy="21945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159752" y="408736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&amp; meeting scheduling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7159752" y="435254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Deadlines and events in a shared calendar view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6537960" y="5074920"/>
            <a:ext cx="457200" cy="457200"/>
          </a:xfrm>
          <a:prstGeom prst="ellipse">
            <a:avLst/>
          </a:prstGeom>
          <a:solidFill>
            <a:srgbClr val="4338CA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2" y="5193792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59752" y="504748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manager &amp; advanced reports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7159752" y="5312664"/>
            <a:ext cx="4133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sharing, PDF/Excel exports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— Summer Training Review</a:t>
            </a:r>
            <a:endParaRPr lang="en-US" sz="900" dirty="0"/>
          </a:p>
        </p:txBody>
      </p:sp>
      <p:sp>
        <p:nvSpPr>
          <p:cNvPr id="37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2011680"/>
            <a:ext cx="822960" cy="822960"/>
          </a:xfrm>
          <a:prstGeom prst="ellipse">
            <a:avLst/>
          </a:prstGeom>
          <a:solidFill>
            <a:srgbClr val="6D63E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6966" y="22256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06324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C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0" y="60350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8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NexusFlow  ·  Harsh Mishra  ·  04613702025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2026-07-25T05:00:15Z</dcterms:created>
  <dcterms:modified xsi:type="dcterms:W3CDTF">2026-07-25T05:00:15Z</dcterms:modified>
</cp:coreProperties>
</file>