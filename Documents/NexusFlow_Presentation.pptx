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47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22298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yourself, the project name, and the one-line pitch: NexusFlow is a full-stack enterprise project and task collaboration platform built solo, end to end. Mention the guide's name and thank the mentor for their time before moving to the problem statement.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brief — the mentor already knows the general pain points of scattered tooling. The key point to land: NexusFlow's actual differentiator isn't the CRUD (any project has that) — it's that a task assignment leads somewhere, not just a notification with no follow-up.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objectives, each one maps directly to a module you'll show later. Emphasize objective 2 — workflow-driven collaboration — since that's the core thing that separates this from a basic CRUD project management app.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Straight technical inventory. If asked why Clean Architecture for a solo project — the honest answer is it kept the 4-layer separation enforceable even while working alone, and made the later workflow-feature addition a contained change instead of a rewrite.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top to bottom: a request enters through Angular, hits an API controller, flows into an Application service, which operates on Domain entities via the Infrastructure layer's repositories — all coordinated through one Unit of Work per request so a partial failure can't leave the database half-updated.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Seven modules, all working end to end. Workflow Engine (highlighted) is the newest and most substantial addition — it's what turns Task Management from a CRUD list into an actual collaboration loop. Happy to open the live app and demo any one of these on request.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loop that answers the review question 'what happens after you assign a task?' Walk it left to right, top row then bottom row: a task is created under a project, assigned to a user, who gets a clickable notification, accepts it, can request clarification if the brief is unclear, the manager responds, status updates flow through with an optional work-log note, every step is captured in the Activity Timeline, and it ends Completed.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five are the features most worth demoing live if there's time. The ownership checks point is worth emphasizing — it's enforced server-side in the service layer, not just hidden in the UI, so a user can't call the API directly to bypass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screenshots from the running application, not mockups. Point out the notification panel specifically — the entries visible there ('Task Accepted', 'Clarification Requested', 'Task Status Updated') are the workflow engine's actual output, captured mid-testing.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4-role model exists in the schema and JWT claims today; enforcement of role-specific restrictions on every endpoint is still being tightened — worth mentioning proactively if asked, rather than letting it surface as a gap during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Future scope items are listed honestly as not-yet-built, matching what's in the project report's own Limitations chapter — don't oversell any of these as already done if asked directly.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Close, invite questions. Have the live app ready in a browser tab in case the mentor wants a live walkthrough of the Accept -&gt; Clarify -&gt; Respond loop instead of just the workflow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8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4.png"/><Relationship Id="rId4" Type="http://schemas.openxmlformats.org/officeDocument/2006/relationships/image" Target="../media/image16.png"/><Relationship Id="rId9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12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11" Type="http://schemas.openxmlformats.org/officeDocument/2006/relationships/image" Target="../media/image18.png"/><Relationship Id="rId5" Type="http://schemas.openxmlformats.org/officeDocument/2006/relationships/image" Target="../media/image17.png"/><Relationship Id="rId15" Type="http://schemas.openxmlformats.org/officeDocument/2006/relationships/image" Target="../media/image23.png"/><Relationship Id="rId10" Type="http://schemas.openxmlformats.org/officeDocument/2006/relationships/image" Target="../media/image22.png"/><Relationship Id="rId4" Type="http://schemas.openxmlformats.org/officeDocument/2006/relationships/image" Target="../media/image19.png"/><Relationship Id="rId9" Type="http://schemas.openxmlformats.org/officeDocument/2006/relationships/image" Target="../media/image21.png"/><Relationship Id="rId1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0" y="0"/>
            <a:ext cx="4050792" cy="6858000"/>
          </a:xfrm>
          <a:prstGeom prst="rect">
            <a:avLst/>
          </a:prstGeom>
          <a:solidFill>
            <a:srgbClr val="17153A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822960"/>
            <a:ext cx="640080" cy="640080"/>
          </a:xfrm>
          <a:prstGeom prst="ellipse">
            <a:avLst/>
          </a:prstGeom>
          <a:solidFill>
            <a:srgbClr val="6D63EE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9381" y="989381"/>
            <a:ext cx="307238" cy="30723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23317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NexusFlow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822960" y="315468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9C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Project &amp; Team Collaboration Platform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822960" y="3794760"/>
            <a:ext cx="5669280" cy="0"/>
          </a:xfrm>
          <a:prstGeom prst="line">
            <a:avLst/>
          </a:prstGeom>
          <a:noFill/>
          <a:ln w="12700">
            <a:solidFill>
              <a:srgbClr val="3A357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40690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908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2788920" y="404164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Harsh Mishra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22960" y="448970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908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NO.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2788920" y="4462272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04613702025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22960" y="49103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908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BY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2788920" y="4882896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Mantra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1B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NexusFlow Was Built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394960" cy="4754880"/>
          </a:xfrm>
          <a:prstGeom prst="roundRect">
            <a:avLst>
              <a:gd name="adj" fmla="val 2308"/>
            </a:avLst>
          </a:prstGeom>
          <a:solidFill>
            <a:srgbClr val="FDEDED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6459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1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 Problems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68680" y="2148840"/>
            <a:ext cx="457200" cy="4572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2267712"/>
            <a:ext cx="219456" cy="2194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90472" y="2121408"/>
            <a:ext cx="4133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1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scattered across chat, sheets, and docs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490472" y="2386584"/>
            <a:ext cx="4133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source of truth for project status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868680" y="3017520"/>
            <a:ext cx="457200" cy="4572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3136392"/>
            <a:ext cx="219456" cy="2194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90472" y="2990088"/>
            <a:ext cx="4133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1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assigned with no follow-through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1490472" y="3255264"/>
            <a:ext cx="4133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ends at a message — no defined next step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68680" y="3886200"/>
            <a:ext cx="457200" cy="4572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4005072"/>
            <a:ext cx="219456" cy="21945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490472" y="3858768"/>
            <a:ext cx="4133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1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 are dead-ends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1490472" y="4123944"/>
            <a:ext cx="4133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alert with nowhere to click and nothing to act on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868680" y="4754880"/>
            <a:ext cx="457200" cy="4572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4873752"/>
            <a:ext cx="219456" cy="21945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490472" y="4727448"/>
            <a:ext cx="4133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1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audit trail</a:t>
            </a:r>
            <a:endParaRPr lang="en-US" sz="1500" dirty="0"/>
          </a:p>
        </p:txBody>
      </p:sp>
      <p:sp>
        <p:nvSpPr>
          <p:cNvPr id="21" name="Text 15"/>
          <p:cNvSpPr/>
          <p:nvPr/>
        </p:nvSpPr>
        <p:spPr>
          <a:xfrm>
            <a:off x="1490472" y="4992624"/>
            <a:ext cx="4133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changed what, and when, is impossible to reconstruct</a:t>
            </a:r>
            <a:endParaRPr lang="en-US" sz="1150" dirty="0"/>
          </a:p>
        </p:txBody>
      </p:sp>
      <p:sp>
        <p:nvSpPr>
          <p:cNvPr id="22" name="Shape 16"/>
          <p:cNvSpPr/>
          <p:nvPr/>
        </p:nvSpPr>
        <p:spPr>
          <a:xfrm>
            <a:off x="6217920" y="1417320"/>
            <a:ext cx="5394960" cy="4754880"/>
          </a:xfrm>
          <a:prstGeom prst="roundRect">
            <a:avLst>
              <a:gd name="adj" fmla="val 2308"/>
            </a:avLst>
          </a:prstGeom>
          <a:solidFill>
            <a:srgbClr val="EEF0FF"/>
          </a:solidFill>
          <a:ln/>
        </p:spPr>
      </p:sp>
      <p:sp>
        <p:nvSpPr>
          <p:cNvPr id="23" name="Text 17"/>
          <p:cNvSpPr/>
          <p:nvPr/>
        </p:nvSpPr>
        <p:spPr>
          <a:xfrm>
            <a:off x="6537960" y="16459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1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NexusFlow</a:t>
            </a:r>
            <a:endParaRPr lang="en-US" sz="1500" dirty="0"/>
          </a:p>
        </p:txBody>
      </p:sp>
      <p:sp>
        <p:nvSpPr>
          <p:cNvPr id="24" name="Shape 18"/>
          <p:cNvSpPr/>
          <p:nvPr/>
        </p:nvSpPr>
        <p:spPr>
          <a:xfrm>
            <a:off x="6537960" y="2148840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6832" y="2267712"/>
            <a:ext cx="219456" cy="21945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159752" y="2121408"/>
            <a:ext cx="4133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1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workspace, one workflow</a:t>
            </a:r>
            <a:endParaRPr lang="en-US" sz="1500" dirty="0"/>
          </a:p>
        </p:txBody>
      </p:sp>
      <p:sp>
        <p:nvSpPr>
          <p:cNvPr id="27" name="Text 20"/>
          <p:cNvSpPr/>
          <p:nvPr/>
        </p:nvSpPr>
        <p:spPr>
          <a:xfrm>
            <a:off x="7159752" y="2386584"/>
            <a:ext cx="4133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Projects, tasks, and discussion in a single system</a:t>
            </a:r>
            <a:endParaRPr lang="en-US" sz="1150" dirty="0"/>
          </a:p>
        </p:txBody>
      </p:sp>
      <p:sp>
        <p:nvSpPr>
          <p:cNvPr id="28" name="Shape 21"/>
          <p:cNvSpPr/>
          <p:nvPr/>
        </p:nvSpPr>
        <p:spPr>
          <a:xfrm>
            <a:off x="6537960" y="3017520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6832" y="3136392"/>
            <a:ext cx="219456" cy="219456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7159752" y="2990088"/>
            <a:ext cx="4133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1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notification is actionable</a:t>
            </a:r>
            <a:endParaRPr lang="en-US" sz="1500" dirty="0"/>
          </a:p>
        </p:txBody>
      </p:sp>
      <p:sp>
        <p:nvSpPr>
          <p:cNvPr id="31" name="Text 23"/>
          <p:cNvSpPr/>
          <p:nvPr/>
        </p:nvSpPr>
        <p:spPr>
          <a:xfrm>
            <a:off x="7159752" y="3255264"/>
            <a:ext cx="4133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Clicking one opens the exact task it's about</a:t>
            </a:r>
            <a:endParaRPr lang="en-US" sz="1150" dirty="0"/>
          </a:p>
        </p:txBody>
      </p:sp>
      <p:sp>
        <p:nvSpPr>
          <p:cNvPr id="32" name="Shape 24"/>
          <p:cNvSpPr/>
          <p:nvPr/>
        </p:nvSpPr>
        <p:spPr>
          <a:xfrm>
            <a:off x="6537960" y="3886200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33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6832" y="4005072"/>
            <a:ext cx="219456" cy="219456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7159752" y="3858768"/>
            <a:ext cx="4133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1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defined task lifecycle</a:t>
            </a:r>
            <a:endParaRPr lang="en-US" sz="1500" dirty="0"/>
          </a:p>
        </p:txBody>
      </p:sp>
      <p:sp>
        <p:nvSpPr>
          <p:cNvPr id="35" name="Text 26"/>
          <p:cNvSpPr/>
          <p:nvPr/>
        </p:nvSpPr>
        <p:spPr>
          <a:xfrm>
            <a:off x="7159752" y="4123944"/>
            <a:ext cx="4133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→ Accept → Clarify → Update → Complete</a:t>
            </a:r>
            <a:endParaRPr lang="en-US" sz="1150" dirty="0"/>
          </a:p>
        </p:txBody>
      </p:sp>
      <p:sp>
        <p:nvSpPr>
          <p:cNvPr id="36" name="Shape 27"/>
          <p:cNvSpPr/>
          <p:nvPr/>
        </p:nvSpPr>
        <p:spPr>
          <a:xfrm>
            <a:off x="6537960" y="4754880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37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6832" y="4873752"/>
            <a:ext cx="219456" cy="219456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7159752" y="4727448"/>
            <a:ext cx="4133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1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accountability</a:t>
            </a:r>
            <a:endParaRPr lang="en-US" sz="1500" dirty="0"/>
          </a:p>
        </p:txBody>
      </p:sp>
      <p:sp>
        <p:nvSpPr>
          <p:cNvPr id="39" name="Text 29"/>
          <p:cNvSpPr/>
          <p:nvPr/>
        </p:nvSpPr>
        <p:spPr>
          <a:xfrm>
            <a:off x="7159752" y="4992624"/>
            <a:ext cx="4133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activity timeline for every task, from creation to close</a:t>
            </a:r>
            <a:endParaRPr lang="en-US" sz="1150" dirty="0"/>
          </a:p>
        </p:txBody>
      </p:sp>
      <p:sp>
        <p:nvSpPr>
          <p:cNvPr id="40" name="Text 30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NexusFlow — Summer Training Review</a:t>
            </a:r>
            <a:endParaRPr lang="en-US" sz="900" dirty="0"/>
          </a:p>
        </p:txBody>
      </p:sp>
      <p:sp>
        <p:nvSpPr>
          <p:cNvPr id="41" name="Text 31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1B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841248"/>
          </a:xfrm>
          <a:prstGeom prst="roundRect">
            <a:avLst>
              <a:gd name="adj" fmla="val 10870"/>
            </a:avLst>
          </a:prstGeom>
          <a:solidFill>
            <a:srgbClr val="FAFBFC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792224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1911096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6916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71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Project Management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6400800" y="1691640"/>
            <a:ext cx="5029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place to create, track, and manage projects and their tasks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2569464"/>
            <a:ext cx="11064240" cy="841248"/>
          </a:xfrm>
          <a:prstGeom prst="roundRect">
            <a:avLst>
              <a:gd name="adj" fmla="val 10870"/>
            </a:avLst>
          </a:prstGeom>
          <a:solidFill>
            <a:srgbClr val="FAFBFC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22960" y="2761488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32" y="2880360"/>
            <a:ext cx="219456" cy="2194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08760" y="2660904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71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Workflow-Driven Task Collaboration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6400800" y="2660904"/>
            <a:ext cx="5029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assignment carries a defined path: accept, clarify, update, complete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3538728"/>
            <a:ext cx="11064240" cy="841248"/>
          </a:xfrm>
          <a:prstGeom prst="roundRect">
            <a:avLst>
              <a:gd name="adj" fmla="val 10870"/>
            </a:avLst>
          </a:prstGeom>
          <a:solidFill>
            <a:srgbClr val="FAFBFC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22960" y="3730752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1832" y="3849624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08760" y="363016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71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Real-Time Notifications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6400800" y="3630168"/>
            <a:ext cx="5029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 deep-link straight to the task they're about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48640" y="4507992"/>
            <a:ext cx="11064240" cy="841248"/>
          </a:xfrm>
          <a:prstGeom prst="roundRect">
            <a:avLst>
              <a:gd name="adj" fmla="val 10870"/>
            </a:avLst>
          </a:prstGeom>
          <a:solidFill>
            <a:srgbClr val="FAFBFC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22960" y="4700016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1832" y="4818888"/>
            <a:ext cx="219456" cy="21945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08760" y="459943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71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Accountability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6400800" y="4599432"/>
            <a:ext cx="5029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audit-backed activity timeline for every task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548640" y="5477256"/>
            <a:ext cx="11064240" cy="841248"/>
          </a:xfrm>
          <a:prstGeom prst="roundRect">
            <a:avLst>
              <a:gd name="adj" fmla="val 10870"/>
            </a:avLst>
          </a:prstGeom>
          <a:solidFill>
            <a:srgbClr val="FAFBFC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822960" y="5669280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1832" y="5788152"/>
            <a:ext cx="219456" cy="21945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508760" y="5568696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71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Secure, Role-Aware Access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6400800" y="5568696"/>
            <a:ext cx="5029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authentication with a 4-role model: Admin, Project Manager, Team Member, Client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NexusFlow — Summer Training Review</a:t>
            </a:r>
            <a:endParaRPr lang="en-US" sz="900" dirty="0"/>
          </a:p>
        </p:txBody>
      </p:sp>
      <p:sp>
        <p:nvSpPr>
          <p:cNvPr id="30" name="Text 23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1B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&amp; Technologies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66160" cy="2103120"/>
          </a:xfrm>
          <a:prstGeom prst="roundRect">
            <a:avLst>
              <a:gd name="adj" fmla="val 5217"/>
            </a:avLst>
          </a:prstGeom>
          <a:solidFill>
            <a:srgbClr val="FAFBFC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783080"/>
            <a:ext cx="502920" cy="50292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999" y="1913839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42316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71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77240" y="274320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20 (Standalone)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Material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343400" y="1554480"/>
            <a:ext cx="3566160" cy="2103120"/>
          </a:xfrm>
          <a:prstGeom prst="roundRect">
            <a:avLst>
              <a:gd name="adj" fmla="val 5217"/>
            </a:avLst>
          </a:prstGeom>
          <a:solidFill>
            <a:srgbClr val="FAFBFC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0" y="1783080"/>
            <a:ext cx="502920" cy="50292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2759" y="1913839"/>
            <a:ext cx="241402" cy="24140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72000" y="242316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71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572000" y="274320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Core (.NET)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Framework Core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138160" y="1554480"/>
            <a:ext cx="3566160" cy="2103120"/>
          </a:xfrm>
          <a:prstGeom prst="roundRect">
            <a:avLst>
              <a:gd name="adj" fmla="val 5217"/>
            </a:avLst>
          </a:prstGeom>
          <a:solidFill>
            <a:srgbClr val="FAFBFC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366760" y="1783080"/>
            <a:ext cx="502920" cy="50292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97519" y="1913839"/>
            <a:ext cx="241402" cy="24140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66760" y="242316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71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366760" y="274320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Code-First Migrations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48640" y="3886200"/>
            <a:ext cx="3566160" cy="2103120"/>
          </a:xfrm>
          <a:prstGeom prst="roundRect">
            <a:avLst>
              <a:gd name="adj" fmla="val 5217"/>
            </a:avLst>
          </a:prstGeom>
          <a:solidFill>
            <a:srgbClr val="FAFBFC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77240" y="4114800"/>
            <a:ext cx="502920" cy="50292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7999" y="4245559"/>
            <a:ext cx="241402" cy="24140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77240" y="475488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71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777240" y="50749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Bearer Tokens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claims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343400" y="3886200"/>
            <a:ext cx="3566160" cy="2103120"/>
          </a:xfrm>
          <a:prstGeom prst="roundRect">
            <a:avLst>
              <a:gd name="adj" fmla="val 5217"/>
            </a:avLst>
          </a:prstGeom>
          <a:solidFill>
            <a:srgbClr val="FAFBFC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572000" y="4114800"/>
            <a:ext cx="502920" cy="50292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02759" y="4245559"/>
            <a:ext cx="241402" cy="24140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72000" y="475488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71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4572000" y="50749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Architecture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+ Unit of Work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8138160" y="3886200"/>
            <a:ext cx="3566160" cy="2103120"/>
          </a:xfrm>
          <a:prstGeom prst="roundRect">
            <a:avLst>
              <a:gd name="adj" fmla="val 5217"/>
            </a:avLst>
          </a:prstGeom>
          <a:solidFill>
            <a:srgbClr val="FAFBFC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366760" y="4114800"/>
            <a:ext cx="502920" cy="50292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97519" y="4245559"/>
            <a:ext cx="241402" cy="24140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366760" y="475488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71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Libraries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8366760" y="50749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AutoMapper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FluentValidation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Chart.js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NexusFlow — Summer Training Review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1B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8595360" cy="841248"/>
          </a:xfrm>
          <a:prstGeom prst="roundRect">
            <a:avLst>
              <a:gd name="adj" fmla="val 8696"/>
            </a:avLst>
          </a:prstGeom>
          <a:solidFill>
            <a:srgbClr val="6D63EE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00200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Presentation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291840" y="1600200"/>
            <a:ext cx="5577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4E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20 · Standalone Components · Angular Material</a:t>
            </a:r>
            <a:endParaRPr lang="en-US" sz="11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8304" y="2331720"/>
            <a:ext cx="256032" cy="25603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2496312"/>
            <a:ext cx="8595360" cy="841248"/>
          </a:xfrm>
          <a:prstGeom prst="roundRect">
            <a:avLst>
              <a:gd name="adj" fmla="val 8696"/>
            </a:avLst>
          </a:prstGeom>
          <a:solidFill>
            <a:srgbClr val="4F46E5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" y="2587752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3291840" y="2587752"/>
            <a:ext cx="5577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4E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Core Controllers · JWT Middleware · Validation Filter</a:t>
            </a:r>
            <a:endParaRPr lang="en-US" sz="115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8304" y="3319272"/>
            <a:ext cx="256032" cy="256032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" y="3483864"/>
            <a:ext cx="8595360" cy="841248"/>
          </a:xfrm>
          <a:prstGeom prst="roundRect">
            <a:avLst>
              <a:gd name="adj" fmla="val 8696"/>
            </a:avLst>
          </a:prstGeom>
          <a:solidFill>
            <a:srgbClr val="4338CA"/>
          </a:solidFill>
          <a:ln/>
        </p:spPr>
      </p:sp>
      <p:sp>
        <p:nvSpPr>
          <p:cNvPr id="13" name="Text 9"/>
          <p:cNvSpPr/>
          <p:nvPr/>
        </p:nvSpPr>
        <p:spPr>
          <a:xfrm>
            <a:off x="822960" y="3575304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291840" y="3575304"/>
            <a:ext cx="5577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4E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· DTOs · AutoMapper · FluentValidation</a:t>
            </a:r>
            <a:endParaRPr lang="en-US" sz="115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8304" y="4306824"/>
            <a:ext cx="256032" cy="256032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548640" y="4471416"/>
            <a:ext cx="8595360" cy="841248"/>
          </a:xfrm>
          <a:prstGeom prst="roundRect">
            <a:avLst>
              <a:gd name="adj" fmla="val 8696"/>
            </a:avLst>
          </a:prstGeom>
          <a:solidFill>
            <a:srgbClr val="3730A3"/>
          </a:solidFill>
          <a:ln/>
        </p:spPr>
      </p:sp>
      <p:sp>
        <p:nvSpPr>
          <p:cNvPr id="17" name="Text 12"/>
          <p:cNvSpPr/>
          <p:nvPr/>
        </p:nvSpPr>
        <p:spPr>
          <a:xfrm>
            <a:off x="822960" y="4562856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Domain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3291840" y="4562856"/>
            <a:ext cx="5577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4E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 · Enums · Business Rules</a:t>
            </a:r>
            <a:endParaRPr lang="en-US" sz="1150" dirty="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8304" y="5294376"/>
            <a:ext cx="256032" cy="256032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548640" y="5458968"/>
            <a:ext cx="8595360" cy="841248"/>
          </a:xfrm>
          <a:prstGeom prst="roundRect">
            <a:avLst>
              <a:gd name="adj" fmla="val 8696"/>
            </a:avLst>
          </a:prstGeom>
          <a:solidFill>
            <a:srgbClr val="312E81"/>
          </a:solidFill>
          <a:ln/>
        </p:spPr>
      </p:sp>
      <p:sp>
        <p:nvSpPr>
          <p:cNvPr id="21" name="Text 15"/>
          <p:cNvSpPr/>
          <p:nvPr/>
        </p:nvSpPr>
        <p:spPr>
          <a:xfrm>
            <a:off x="822960" y="5550408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Infrastructure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3291840" y="5550408"/>
            <a:ext cx="5577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4E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 Core · Repository Pattern · Unit of Work · SQL Server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9464040" y="1508760"/>
            <a:ext cx="2194560" cy="2103120"/>
          </a:xfrm>
          <a:prstGeom prst="roundRect">
            <a:avLst>
              <a:gd name="adj" fmla="val 4348"/>
            </a:avLst>
          </a:prstGeom>
          <a:solidFill>
            <a:srgbClr val="EEF0FF"/>
          </a:solidFill>
          <a:ln/>
        </p:spPr>
      </p:sp>
      <p:sp>
        <p:nvSpPr>
          <p:cNvPr id="24" name="Shape 18"/>
          <p:cNvSpPr/>
          <p:nvPr/>
        </p:nvSpPr>
        <p:spPr>
          <a:xfrm>
            <a:off x="9692640" y="1737360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11512" y="1856232"/>
            <a:ext cx="219456" cy="21945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9646920" y="22860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1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Pattern</a:t>
            </a:r>
            <a:endParaRPr lang="en-US" sz="1200" dirty="0"/>
          </a:p>
        </p:txBody>
      </p:sp>
      <p:sp>
        <p:nvSpPr>
          <p:cNvPr id="27" name="Text 20"/>
          <p:cNvSpPr/>
          <p:nvPr/>
        </p:nvSpPr>
        <p:spPr>
          <a:xfrm>
            <a:off x="9646920" y="2578608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data access, decoupled from EF Core specifics</a:t>
            </a:r>
            <a:endParaRPr lang="en-US" sz="1000" dirty="0"/>
          </a:p>
        </p:txBody>
      </p:sp>
      <p:sp>
        <p:nvSpPr>
          <p:cNvPr id="28" name="Shape 21"/>
          <p:cNvSpPr/>
          <p:nvPr/>
        </p:nvSpPr>
        <p:spPr>
          <a:xfrm>
            <a:off x="9464040" y="3794760"/>
            <a:ext cx="2194560" cy="2103120"/>
          </a:xfrm>
          <a:prstGeom prst="roundRect">
            <a:avLst>
              <a:gd name="adj" fmla="val 4348"/>
            </a:avLst>
          </a:prstGeom>
          <a:solidFill>
            <a:srgbClr val="EEF0FF"/>
          </a:solidFill>
          <a:ln/>
        </p:spPr>
      </p:sp>
      <p:sp>
        <p:nvSpPr>
          <p:cNvPr id="29" name="Shape 22"/>
          <p:cNvSpPr/>
          <p:nvPr/>
        </p:nvSpPr>
        <p:spPr>
          <a:xfrm>
            <a:off x="9692640" y="4023360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11512" y="4142232"/>
            <a:ext cx="219456" cy="219456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9646920" y="45720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1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of Work</a:t>
            </a:r>
            <a:endParaRPr lang="en-US" sz="1200" dirty="0"/>
          </a:p>
        </p:txBody>
      </p:sp>
      <p:sp>
        <p:nvSpPr>
          <p:cNvPr id="32" name="Text 24"/>
          <p:cNvSpPr/>
          <p:nvPr/>
        </p:nvSpPr>
        <p:spPr>
          <a:xfrm>
            <a:off x="9646920" y="4864608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transaction boundary across multiple repositories per request</a:t>
            </a:r>
            <a:endParaRPr lang="en-US" sz="1000" dirty="0"/>
          </a:p>
        </p:txBody>
      </p:sp>
      <p:sp>
        <p:nvSpPr>
          <p:cNvPr id="33" name="Text 2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NexusFlow — Summer Training Review</a:t>
            </a:r>
            <a:endParaRPr lang="en-US" sz="900" dirty="0"/>
          </a:p>
        </p:txBody>
      </p:sp>
      <p:sp>
        <p:nvSpPr>
          <p:cNvPr id="34" name="Text 26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BUILT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1B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Modules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633472" cy="1965960"/>
          </a:xfrm>
          <a:prstGeom prst="roundRect">
            <a:avLst>
              <a:gd name="adj" fmla="val 5581"/>
            </a:avLst>
          </a:prstGeom>
          <a:solidFill>
            <a:srgbClr val="FAFBFC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755648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874520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359152"/>
            <a:ext cx="2267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71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31520" y="2852928"/>
            <a:ext cx="2267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login, register, secured routes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364992" y="1554480"/>
            <a:ext cx="2633472" cy="1965960"/>
          </a:xfrm>
          <a:prstGeom prst="roundRect">
            <a:avLst>
              <a:gd name="adj" fmla="val 5581"/>
            </a:avLst>
          </a:prstGeom>
          <a:solidFill>
            <a:srgbClr val="FAFBFC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566160" y="1755648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5032" y="1874520"/>
            <a:ext cx="219456" cy="2194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47872" y="2359152"/>
            <a:ext cx="2267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71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3547872" y="2852928"/>
            <a:ext cx="2267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stats, task &amp; project charts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181344" y="1554480"/>
            <a:ext cx="2633472" cy="1965960"/>
          </a:xfrm>
          <a:prstGeom prst="roundRect">
            <a:avLst>
              <a:gd name="adj" fmla="val 5581"/>
            </a:avLst>
          </a:prstGeom>
          <a:solidFill>
            <a:srgbClr val="FAFBFC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382512" y="1755648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1384" y="1874520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64224" y="2359152"/>
            <a:ext cx="2267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71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Management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6364224" y="2852928"/>
            <a:ext cx="2267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Create, edit, track progress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8997696" y="1554480"/>
            <a:ext cx="2633472" cy="1965960"/>
          </a:xfrm>
          <a:prstGeom prst="roundRect">
            <a:avLst>
              <a:gd name="adj" fmla="val 5581"/>
            </a:avLst>
          </a:prstGeom>
          <a:solidFill>
            <a:srgbClr val="FAFBFC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9198864" y="1755648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17736" y="1874520"/>
            <a:ext cx="219456" cy="21945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80576" y="2359152"/>
            <a:ext cx="2267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71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Management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9180576" y="2852928"/>
            <a:ext cx="2267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lifecycle, priority, due dates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548640" y="3703320"/>
            <a:ext cx="2633472" cy="1965960"/>
          </a:xfrm>
          <a:prstGeom prst="roundRect">
            <a:avLst>
              <a:gd name="adj" fmla="val 5581"/>
            </a:avLst>
          </a:prstGeom>
          <a:solidFill>
            <a:srgbClr val="FAFBFC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749808" y="3904488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8680" y="4023360"/>
            <a:ext cx="219456" cy="21945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31520" y="4507992"/>
            <a:ext cx="2267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71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Comments &amp; Collaboration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731520" y="5001768"/>
            <a:ext cx="2267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Threaded discussion per task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3364992" y="3703320"/>
            <a:ext cx="2633472" cy="1965960"/>
          </a:xfrm>
          <a:prstGeom prst="roundRect">
            <a:avLst>
              <a:gd name="adj" fmla="val 5581"/>
            </a:avLst>
          </a:prstGeom>
          <a:solidFill>
            <a:srgbClr val="FAFBFC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3566160" y="3904488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85032" y="4023360"/>
            <a:ext cx="219456" cy="21945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3547872" y="4507992"/>
            <a:ext cx="2267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71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1250" dirty="0"/>
          </a:p>
        </p:txBody>
      </p:sp>
      <p:sp>
        <p:nvSpPr>
          <p:cNvPr id="33" name="Text 25"/>
          <p:cNvSpPr/>
          <p:nvPr/>
        </p:nvSpPr>
        <p:spPr>
          <a:xfrm>
            <a:off x="3547872" y="5001768"/>
            <a:ext cx="2267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Real-time, clickable, deep-linked</a:t>
            </a:r>
            <a:endParaRPr lang="en-US" sz="1000" dirty="0"/>
          </a:p>
        </p:txBody>
      </p:sp>
      <p:sp>
        <p:nvSpPr>
          <p:cNvPr id="34" name="Shape 26"/>
          <p:cNvSpPr/>
          <p:nvPr/>
        </p:nvSpPr>
        <p:spPr>
          <a:xfrm>
            <a:off x="6181344" y="3703320"/>
            <a:ext cx="2633472" cy="1965960"/>
          </a:xfrm>
          <a:prstGeom prst="roundRect">
            <a:avLst>
              <a:gd name="adj" fmla="val 5581"/>
            </a:avLst>
          </a:prstGeom>
          <a:solidFill>
            <a:srgbClr val="EEF0FF"/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35" name="Shape 27"/>
          <p:cNvSpPr/>
          <p:nvPr/>
        </p:nvSpPr>
        <p:spPr>
          <a:xfrm>
            <a:off x="6382512" y="3904488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01384" y="4023360"/>
            <a:ext cx="219456" cy="219456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6364224" y="4507992"/>
            <a:ext cx="2267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71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Engine</a:t>
            </a:r>
            <a:endParaRPr lang="en-US" sz="1250" dirty="0"/>
          </a:p>
        </p:txBody>
      </p:sp>
      <p:sp>
        <p:nvSpPr>
          <p:cNvPr id="38" name="Text 29"/>
          <p:cNvSpPr/>
          <p:nvPr/>
        </p:nvSpPr>
        <p:spPr>
          <a:xfrm>
            <a:off x="6364224" y="5001768"/>
            <a:ext cx="2267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· Clarify · Update · Log</a:t>
            </a:r>
            <a:endParaRPr lang="en-US" sz="1000" dirty="0"/>
          </a:p>
        </p:txBody>
      </p:sp>
      <p:sp>
        <p:nvSpPr>
          <p:cNvPr id="39" name="Text 30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NexusFlow — Summer Training Review</a:t>
            </a:r>
            <a:endParaRPr lang="en-US" sz="900" dirty="0"/>
          </a:p>
        </p:txBody>
      </p:sp>
      <p:sp>
        <p:nvSpPr>
          <p:cNvPr id="40" name="Text 31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08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LOOP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Lifecycle Workflow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965960"/>
            <a:ext cx="1691640" cy="1051560"/>
          </a:xfrm>
          <a:prstGeom prst="roundRect">
            <a:avLst>
              <a:gd name="adj" fmla="val 8696"/>
            </a:avLst>
          </a:prstGeom>
          <a:solidFill>
            <a:srgbClr val="2E2A6B"/>
          </a:solidFill>
          <a:ln w="12700">
            <a:solidFill>
              <a:srgbClr val="4A4490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428" y="2075688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244144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10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2439" y="2372868"/>
            <a:ext cx="237744" cy="237744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2373782" y="1965960"/>
            <a:ext cx="1691640" cy="1051560"/>
          </a:xfrm>
          <a:prstGeom prst="roundRect">
            <a:avLst>
              <a:gd name="adj" fmla="val 8696"/>
            </a:avLst>
          </a:prstGeom>
          <a:solidFill>
            <a:srgbClr val="2E2A6B"/>
          </a:solidFill>
          <a:ln w="12700">
            <a:solidFill>
              <a:srgbClr val="4A4490"/>
            </a:solidFill>
            <a:prstDash val="solid"/>
          </a:ln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55010" y="2075688"/>
            <a:ext cx="329184" cy="32918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419502" y="244144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Task</a:t>
            </a:r>
            <a:endParaRPr lang="en-US" sz="10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9022" y="2372868"/>
            <a:ext cx="237744" cy="237744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4290365" y="1965960"/>
            <a:ext cx="1691640" cy="1051560"/>
          </a:xfrm>
          <a:prstGeom prst="roundRect">
            <a:avLst>
              <a:gd name="adj" fmla="val 8696"/>
            </a:avLst>
          </a:prstGeom>
          <a:solidFill>
            <a:srgbClr val="2E2A6B"/>
          </a:solidFill>
          <a:ln w="12700">
            <a:solidFill>
              <a:srgbClr val="4A4490"/>
            </a:solidFill>
            <a:prstDash val="solid"/>
          </a:ln>
        </p:spPr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71593" y="2075688"/>
            <a:ext cx="329184" cy="329184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4336085" y="244144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User</a:t>
            </a:r>
            <a:endParaRPr lang="en-US" sz="1050" dirty="0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5604" y="2372868"/>
            <a:ext cx="237744" cy="237744"/>
          </a:xfrm>
          <a:prstGeom prst="rect">
            <a:avLst/>
          </a:prstGeom>
        </p:spPr>
      </p:pic>
      <p:sp>
        <p:nvSpPr>
          <p:cNvPr id="16" name="Shape 8"/>
          <p:cNvSpPr/>
          <p:nvPr/>
        </p:nvSpPr>
        <p:spPr>
          <a:xfrm>
            <a:off x="6206947" y="1965960"/>
            <a:ext cx="1691640" cy="1051560"/>
          </a:xfrm>
          <a:prstGeom prst="roundRect">
            <a:avLst>
              <a:gd name="adj" fmla="val 8696"/>
            </a:avLst>
          </a:prstGeom>
          <a:solidFill>
            <a:srgbClr val="2E2A6B"/>
          </a:solidFill>
          <a:ln w="12700">
            <a:solidFill>
              <a:srgbClr val="4A4490"/>
            </a:solidFill>
            <a:prstDash val="solid"/>
          </a:ln>
        </p:spPr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88175" y="2075688"/>
            <a:ext cx="329184" cy="329184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6252667" y="244144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</a:t>
            </a:r>
            <a:endParaRPr lang="en-US" sz="1050" dirty="0"/>
          </a:p>
        </p:txBody>
      </p:sp>
      <p:pic>
        <p:nvPicPr>
          <p:cNvPr id="19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92186" y="2372868"/>
            <a:ext cx="237744" cy="237744"/>
          </a:xfrm>
          <a:prstGeom prst="rect">
            <a:avLst/>
          </a:prstGeom>
        </p:spPr>
      </p:pic>
      <p:sp>
        <p:nvSpPr>
          <p:cNvPr id="20" name="Shape 10"/>
          <p:cNvSpPr/>
          <p:nvPr/>
        </p:nvSpPr>
        <p:spPr>
          <a:xfrm>
            <a:off x="8123530" y="1965960"/>
            <a:ext cx="1691640" cy="1051560"/>
          </a:xfrm>
          <a:prstGeom prst="roundRect">
            <a:avLst>
              <a:gd name="adj" fmla="val 8696"/>
            </a:avLst>
          </a:prstGeom>
          <a:solidFill>
            <a:srgbClr val="2E2A6B"/>
          </a:solidFill>
          <a:ln w="12700">
            <a:solidFill>
              <a:srgbClr val="4A4490"/>
            </a:solidFill>
            <a:prstDash val="solid"/>
          </a:ln>
        </p:spPr>
      </p:sp>
      <p:pic>
        <p:nvPicPr>
          <p:cNvPr id="21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04758" y="2075688"/>
            <a:ext cx="329184" cy="329184"/>
          </a:xfrm>
          <a:prstGeom prst="rect">
            <a:avLst/>
          </a:prstGeom>
        </p:spPr>
      </p:pic>
      <p:sp>
        <p:nvSpPr>
          <p:cNvPr id="22" name="Text 11"/>
          <p:cNvSpPr/>
          <p:nvPr/>
        </p:nvSpPr>
        <p:spPr>
          <a:xfrm>
            <a:off x="8169250" y="244144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Task</a:t>
            </a:r>
            <a:endParaRPr lang="en-US" sz="1050" dirty="0"/>
          </a:p>
        </p:txBody>
      </p:sp>
      <p:pic>
        <p:nvPicPr>
          <p:cNvPr id="23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08769" y="2372868"/>
            <a:ext cx="237744" cy="237744"/>
          </a:xfrm>
          <a:prstGeom prst="rect">
            <a:avLst/>
          </a:prstGeom>
        </p:spPr>
      </p:pic>
      <p:sp>
        <p:nvSpPr>
          <p:cNvPr id="24" name="Shape 12"/>
          <p:cNvSpPr/>
          <p:nvPr/>
        </p:nvSpPr>
        <p:spPr>
          <a:xfrm>
            <a:off x="10040112" y="1965960"/>
            <a:ext cx="1691640" cy="1051560"/>
          </a:xfrm>
          <a:prstGeom prst="roundRect">
            <a:avLst>
              <a:gd name="adj" fmla="val 8696"/>
            </a:avLst>
          </a:prstGeom>
          <a:solidFill>
            <a:srgbClr val="2E2A6B"/>
          </a:solidFill>
          <a:ln w="12700">
            <a:solidFill>
              <a:srgbClr val="4A4490"/>
            </a:solidFill>
            <a:prstDash val="solid"/>
          </a:ln>
        </p:spPr>
      </p:sp>
      <p:pic>
        <p:nvPicPr>
          <p:cNvPr id="25" name="Image 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721340" y="2075688"/>
            <a:ext cx="329184" cy="329184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10085832" y="244144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Clarification</a:t>
            </a:r>
            <a:endParaRPr lang="en-US" sz="1050" dirty="0"/>
          </a:p>
        </p:txBody>
      </p:sp>
      <p:pic>
        <p:nvPicPr>
          <p:cNvPr id="27" name="Image 1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767060" y="3054096"/>
            <a:ext cx="237744" cy="237744"/>
          </a:xfrm>
          <a:prstGeom prst="rect">
            <a:avLst/>
          </a:prstGeom>
        </p:spPr>
      </p:pic>
      <p:sp>
        <p:nvSpPr>
          <p:cNvPr id="28" name="Shape 14"/>
          <p:cNvSpPr/>
          <p:nvPr/>
        </p:nvSpPr>
        <p:spPr>
          <a:xfrm>
            <a:off x="10040112" y="3977640"/>
            <a:ext cx="1691640" cy="1051560"/>
          </a:xfrm>
          <a:prstGeom prst="roundRect">
            <a:avLst>
              <a:gd name="adj" fmla="val 8696"/>
            </a:avLst>
          </a:prstGeom>
          <a:solidFill>
            <a:srgbClr val="2E2A6B"/>
          </a:solidFill>
          <a:ln w="12700">
            <a:solidFill>
              <a:srgbClr val="4A4490"/>
            </a:solidFill>
            <a:prstDash val="solid"/>
          </a:ln>
        </p:spPr>
      </p:sp>
      <p:pic>
        <p:nvPicPr>
          <p:cNvPr id="29" name="Image 12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721340" y="4087368"/>
            <a:ext cx="329184" cy="329184"/>
          </a:xfrm>
          <a:prstGeom prst="rect">
            <a:avLst/>
          </a:prstGeom>
        </p:spPr>
      </p:pic>
      <p:sp>
        <p:nvSpPr>
          <p:cNvPr id="30" name="Text 15"/>
          <p:cNvSpPr/>
          <p:nvPr/>
        </p:nvSpPr>
        <p:spPr>
          <a:xfrm>
            <a:off x="10085832" y="445312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Response</a:t>
            </a:r>
            <a:endParaRPr lang="en-US" sz="1050" dirty="0"/>
          </a:p>
        </p:txBody>
      </p:sp>
      <p:pic>
        <p:nvPicPr>
          <p:cNvPr id="31" name="Image 1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9808769" y="4384548"/>
            <a:ext cx="237744" cy="237744"/>
          </a:xfrm>
          <a:prstGeom prst="rect">
            <a:avLst/>
          </a:prstGeom>
        </p:spPr>
      </p:pic>
      <p:sp>
        <p:nvSpPr>
          <p:cNvPr id="32" name="Shape 16"/>
          <p:cNvSpPr/>
          <p:nvPr/>
        </p:nvSpPr>
        <p:spPr>
          <a:xfrm>
            <a:off x="8123530" y="3977640"/>
            <a:ext cx="1691640" cy="1051560"/>
          </a:xfrm>
          <a:prstGeom prst="roundRect">
            <a:avLst>
              <a:gd name="adj" fmla="val 8696"/>
            </a:avLst>
          </a:prstGeom>
          <a:solidFill>
            <a:srgbClr val="2E2A6B"/>
          </a:solidFill>
          <a:ln w="12700">
            <a:solidFill>
              <a:srgbClr val="4A4490"/>
            </a:solidFill>
            <a:prstDash val="solid"/>
          </a:ln>
        </p:spPr>
      </p:sp>
      <p:pic>
        <p:nvPicPr>
          <p:cNvPr id="33" name="Image 14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804758" y="4087368"/>
            <a:ext cx="329184" cy="329184"/>
          </a:xfrm>
          <a:prstGeom prst="rect">
            <a:avLst/>
          </a:prstGeom>
        </p:spPr>
      </p:pic>
      <p:sp>
        <p:nvSpPr>
          <p:cNvPr id="34" name="Text 17"/>
          <p:cNvSpPr/>
          <p:nvPr/>
        </p:nvSpPr>
        <p:spPr>
          <a:xfrm>
            <a:off x="8169250" y="445312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Status</a:t>
            </a:r>
            <a:endParaRPr lang="en-US" sz="1050" dirty="0"/>
          </a:p>
        </p:txBody>
      </p:sp>
      <p:pic>
        <p:nvPicPr>
          <p:cNvPr id="35" name="Image 1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7892186" y="4384548"/>
            <a:ext cx="237744" cy="237744"/>
          </a:xfrm>
          <a:prstGeom prst="rect">
            <a:avLst/>
          </a:prstGeom>
        </p:spPr>
      </p:pic>
      <p:sp>
        <p:nvSpPr>
          <p:cNvPr id="36" name="Shape 18"/>
          <p:cNvSpPr/>
          <p:nvPr/>
        </p:nvSpPr>
        <p:spPr>
          <a:xfrm>
            <a:off x="6206947" y="3977640"/>
            <a:ext cx="1691640" cy="1051560"/>
          </a:xfrm>
          <a:prstGeom prst="roundRect">
            <a:avLst>
              <a:gd name="adj" fmla="val 8696"/>
            </a:avLst>
          </a:prstGeom>
          <a:solidFill>
            <a:srgbClr val="2E2A6B"/>
          </a:solidFill>
          <a:ln w="12700">
            <a:solidFill>
              <a:srgbClr val="4A4490"/>
            </a:solidFill>
            <a:prstDash val="solid"/>
          </a:ln>
        </p:spPr>
      </p:sp>
      <p:pic>
        <p:nvPicPr>
          <p:cNvPr id="37" name="Image 16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888175" y="4087368"/>
            <a:ext cx="329184" cy="329184"/>
          </a:xfrm>
          <a:prstGeom prst="rect">
            <a:avLst/>
          </a:prstGeom>
        </p:spPr>
      </p:pic>
      <p:sp>
        <p:nvSpPr>
          <p:cNvPr id="38" name="Text 19"/>
          <p:cNvSpPr/>
          <p:nvPr/>
        </p:nvSpPr>
        <p:spPr>
          <a:xfrm>
            <a:off x="6252667" y="445312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Log</a:t>
            </a:r>
            <a:endParaRPr lang="en-US" sz="1050" dirty="0"/>
          </a:p>
        </p:txBody>
      </p:sp>
      <p:pic>
        <p:nvPicPr>
          <p:cNvPr id="39" name="Image 1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5975604" y="4384548"/>
            <a:ext cx="237744" cy="237744"/>
          </a:xfrm>
          <a:prstGeom prst="rect">
            <a:avLst/>
          </a:prstGeom>
        </p:spPr>
      </p:pic>
      <p:sp>
        <p:nvSpPr>
          <p:cNvPr id="40" name="Shape 20"/>
          <p:cNvSpPr/>
          <p:nvPr/>
        </p:nvSpPr>
        <p:spPr>
          <a:xfrm>
            <a:off x="4290365" y="3977640"/>
            <a:ext cx="1691640" cy="1051560"/>
          </a:xfrm>
          <a:prstGeom prst="roundRect">
            <a:avLst>
              <a:gd name="adj" fmla="val 8696"/>
            </a:avLst>
          </a:prstGeom>
          <a:solidFill>
            <a:srgbClr val="2E2A6B"/>
          </a:solidFill>
          <a:ln w="12700">
            <a:solidFill>
              <a:srgbClr val="4A4490"/>
            </a:solidFill>
            <a:prstDash val="solid"/>
          </a:ln>
        </p:spPr>
      </p:sp>
      <p:pic>
        <p:nvPicPr>
          <p:cNvPr id="41" name="Image 18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971593" y="4087368"/>
            <a:ext cx="329184" cy="329184"/>
          </a:xfrm>
          <a:prstGeom prst="rect">
            <a:avLst/>
          </a:prstGeom>
        </p:spPr>
      </p:pic>
      <p:sp>
        <p:nvSpPr>
          <p:cNvPr id="42" name="Text 21"/>
          <p:cNvSpPr/>
          <p:nvPr/>
        </p:nvSpPr>
        <p:spPr>
          <a:xfrm>
            <a:off x="4336085" y="445312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Timeline</a:t>
            </a:r>
            <a:endParaRPr lang="en-US" sz="1050" dirty="0"/>
          </a:p>
        </p:txBody>
      </p:sp>
      <p:pic>
        <p:nvPicPr>
          <p:cNvPr id="43" name="Image 1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4059022" y="4384548"/>
            <a:ext cx="237744" cy="237744"/>
          </a:xfrm>
          <a:prstGeom prst="rect">
            <a:avLst/>
          </a:prstGeom>
        </p:spPr>
      </p:pic>
      <p:sp>
        <p:nvSpPr>
          <p:cNvPr id="44" name="Shape 22"/>
          <p:cNvSpPr/>
          <p:nvPr/>
        </p:nvSpPr>
        <p:spPr>
          <a:xfrm>
            <a:off x="2373782" y="3977640"/>
            <a:ext cx="1691640" cy="1051560"/>
          </a:xfrm>
          <a:prstGeom prst="roundRect">
            <a:avLst>
              <a:gd name="adj" fmla="val 8696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pic>
        <p:nvPicPr>
          <p:cNvPr id="45" name="Image 20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055010" y="4087368"/>
            <a:ext cx="329184" cy="329184"/>
          </a:xfrm>
          <a:prstGeom prst="rect">
            <a:avLst/>
          </a:prstGeom>
        </p:spPr>
      </p:pic>
      <p:sp>
        <p:nvSpPr>
          <p:cNvPr id="46" name="Text 23"/>
          <p:cNvSpPr/>
          <p:nvPr/>
        </p:nvSpPr>
        <p:spPr>
          <a:xfrm>
            <a:off x="2419502" y="445312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1B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Implemented Features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02920" cy="50292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399" y="1730959"/>
            <a:ext cx="241402" cy="24140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581912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71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Deep-Linked Notifications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6263640" y="1581912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Clicking a notification opens the exact task, not just a message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2258568"/>
            <a:ext cx="11064240" cy="0"/>
          </a:xfrm>
          <a:prstGeom prst="line">
            <a:avLst/>
          </a:prstGeom>
          <a:noFill/>
          <a:ln w="12700">
            <a:solidFill>
              <a:srgbClr val="E3E8E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8640" y="2468880"/>
            <a:ext cx="502920" cy="50292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399" y="2599639"/>
            <a:ext cx="241402" cy="24140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34440" y="2450592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71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/ Clarify / Respond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6263640" y="2450592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Ownership-checked actions — only an assignee can accept or ask a question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48640" y="3127248"/>
            <a:ext cx="11064240" cy="0"/>
          </a:xfrm>
          <a:prstGeom prst="line">
            <a:avLst/>
          </a:prstGeom>
          <a:noFill/>
          <a:ln w="12700">
            <a:solidFill>
              <a:srgbClr val="E3E8EF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548640" y="3337560"/>
            <a:ext cx="502920" cy="50292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399" y="3468319"/>
            <a:ext cx="241402" cy="24140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234440" y="3319272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71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Activity Timeline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6263640" y="3319272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status change and action is logged and visible per task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548640" y="3995928"/>
            <a:ext cx="11064240" cy="0"/>
          </a:xfrm>
          <a:prstGeom prst="line">
            <a:avLst/>
          </a:prstGeom>
          <a:noFill/>
          <a:ln w="12700">
            <a:solidFill>
              <a:srgbClr val="E3E8EF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548640" y="4206240"/>
            <a:ext cx="502920" cy="50292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9399" y="4336999"/>
            <a:ext cx="241402" cy="24140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234440" y="4187952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71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</a:t>
            </a:r>
            <a:endParaRPr lang="en-US" sz="1450" dirty="0"/>
          </a:p>
        </p:txBody>
      </p:sp>
      <p:sp>
        <p:nvSpPr>
          <p:cNvPr id="22" name="Text 16"/>
          <p:cNvSpPr/>
          <p:nvPr/>
        </p:nvSpPr>
        <p:spPr>
          <a:xfrm>
            <a:off x="6263640" y="4187952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Task-status and project-split charts driven by real data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548640" y="4864608"/>
            <a:ext cx="11064240" cy="0"/>
          </a:xfrm>
          <a:prstGeom prst="line">
            <a:avLst/>
          </a:prstGeom>
          <a:noFill/>
          <a:ln w="12700">
            <a:solidFill>
              <a:srgbClr val="E3E8EF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548640" y="5074920"/>
            <a:ext cx="502920" cy="50292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9399" y="5205679"/>
            <a:ext cx="241402" cy="241402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234440" y="5056632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71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Progress Tracking</a:t>
            </a:r>
            <a:endParaRPr lang="en-US" sz="1450" dirty="0"/>
          </a:p>
        </p:txBody>
      </p:sp>
      <p:sp>
        <p:nvSpPr>
          <p:cNvPr id="27" name="Text 20"/>
          <p:cNvSpPr/>
          <p:nvPr/>
        </p:nvSpPr>
        <p:spPr>
          <a:xfrm>
            <a:off x="6263640" y="5056632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 percentage computed from actual task counts</a:t>
            </a:r>
            <a:endParaRPr lang="en-US" sz="1200" dirty="0"/>
          </a:p>
        </p:txBody>
      </p:sp>
      <p:sp>
        <p:nvSpPr>
          <p:cNvPr id="28" name="Shape 21"/>
          <p:cNvSpPr/>
          <p:nvPr/>
        </p:nvSpPr>
        <p:spPr>
          <a:xfrm>
            <a:off x="548640" y="5733288"/>
            <a:ext cx="11064240" cy="0"/>
          </a:xfrm>
          <a:prstGeom prst="line">
            <a:avLst/>
          </a:prstGeom>
          <a:noFill/>
          <a:ln w="12700">
            <a:solidFill>
              <a:srgbClr val="E3E8EF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NexusFlow — Summer Training Review</a:t>
            </a:r>
            <a:endParaRPr lang="en-US" sz="900" dirty="0"/>
          </a:p>
        </p:txBody>
      </p:sp>
      <p:sp>
        <p:nvSpPr>
          <p:cNvPr id="30" name="Text 23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1B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Screenshots</a:t>
            </a:r>
            <a:endParaRPr lang="en-US" sz="3000" dirty="0"/>
          </a:p>
        </p:txBody>
      </p:sp>
      <p:pic>
        <p:nvPicPr>
          <p:cNvPr id="4" name="Image 0" descr="/mnt/user-data/uploads/Screenshot_2026-07-24_173523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1417320"/>
            <a:ext cx="3520440" cy="20116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417320"/>
            <a:ext cx="3520440" cy="2011680"/>
          </a:xfrm>
          <a:prstGeom prst="rect">
            <a:avLst/>
          </a:prstGeom>
          <a:ln w="12700">
            <a:solidFill>
              <a:srgbClr val="E3E8E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3474720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1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100" dirty="0"/>
          </a:p>
        </p:txBody>
      </p:sp>
      <p:pic>
        <p:nvPicPr>
          <p:cNvPr id="7" name="Image 1" descr="/mnt/user-data/uploads/Screenshot_2026-07-24_182038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251960" y="1417320"/>
            <a:ext cx="3520440" cy="201168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251960" y="1417320"/>
            <a:ext cx="3520440" cy="2011680"/>
          </a:xfrm>
          <a:prstGeom prst="rect">
            <a:avLst/>
          </a:prstGeom>
          <a:ln w="12700">
            <a:solidFill>
              <a:srgbClr val="E3E8EF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4251960" y="3474720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1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100" dirty="0"/>
          </a:p>
        </p:txBody>
      </p:sp>
      <p:pic>
        <p:nvPicPr>
          <p:cNvPr id="10" name="Image 2" descr="/mnt/user-data/uploads/Screenshot_2026-07-24_182101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955280" y="1417320"/>
            <a:ext cx="3520440" cy="2011680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7955280" y="1417320"/>
            <a:ext cx="3520440" cy="2011680"/>
          </a:xfrm>
          <a:prstGeom prst="rect">
            <a:avLst/>
          </a:prstGeom>
          <a:ln w="12700">
            <a:solidFill>
              <a:srgbClr val="E3E8EF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7955280" y="3474720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1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Tasks</a:t>
            </a:r>
            <a:endParaRPr lang="en-US" sz="1100" dirty="0"/>
          </a:p>
        </p:txBody>
      </p:sp>
      <p:pic>
        <p:nvPicPr>
          <p:cNvPr id="13" name="Image 3" descr="/mnt/user-data/uploads/Screenshot_2026-07-24_182123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2395728" y="3749040"/>
            <a:ext cx="3520440" cy="2011680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2395728" y="3749040"/>
            <a:ext cx="3520440" cy="2011680"/>
          </a:xfrm>
          <a:prstGeom prst="rect">
            <a:avLst/>
          </a:prstGeom>
          <a:ln w="12700">
            <a:solidFill>
              <a:srgbClr val="E3E8EF"/>
            </a:solidFill>
            <a:prstDash val="solid"/>
          </a:ln>
        </p:spPr>
      </p:sp>
      <p:sp>
        <p:nvSpPr>
          <p:cNvPr id="15" name="Text 9"/>
          <p:cNvSpPr/>
          <p:nvPr/>
        </p:nvSpPr>
        <p:spPr>
          <a:xfrm>
            <a:off x="2395728" y="5806440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1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</a:t>
            </a:r>
            <a:endParaRPr lang="en-US" sz="1100" dirty="0"/>
          </a:p>
        </p:txBody>
      </p:sp>
      <p:pic>
        <p:nvPicPr>
          <p:cNvPr id="16" name="Image 4" descr="/mnt/user-data/uploads/Screenshot_2026-07-24_182203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099048" y="3749040"/>
            <a:ext cx="3520440" cy="2011680"/>
          </a:xfrm>
          <a:prstGeom prst="rect">
            <a:avLst/>
          </a:prstGeom>
        </p:spPr>
      </p:pic>
      <p:sp>
        <p:nvSpPr>
          <p:cNvPr id="17" name="Shape 10"/>
          <p:cNvSpPr/>
          <p:nvPr/>
        </p:nvSpPr>
        <p:spPr>
          <a:xfrm>
            <a:off x="6099048" y="3749040"/>
            <a:ext cx="3520440" cy="2011680"/>
          </a:xfrm>
          <a:prstGeom prst="rect">
            <a:avLst/>
          </a:prstGeom>
          <a:ln w="12700">
            <a:solidFill>
              <a:srgbClr val="E3E8EF"/>
            </a:solidFill>
            <a:prstDash val="solid"/>
          </a:ln>
        </p:spPr>
      </p:sp>
      <p:sp>
        <p:nvSpPr>
          <p:cNvPr id="18" name="Text 11"/>
          <p:cNvSpPr/>
          <p:nvPr/>
        </p:nvSpPr>
        <p:spPr>
          <a:xfrm>
            <a:off x="6099048" y="5806440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1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1100" dirty="0"/>
          </a:p>
        </p:txBody>
      </p:sp>
      <p:sp>
        <p:nvSpPr>
          <p:cNvPr id="19" name="Text 12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NexusFlow — Summer Training Review</a:t>
            </a:r>
            <a:endParaRPr lang="en-US" sz="900" dirty="0"/>
          </a:p>
        </p:txBody>
      </p:sp>
      <p:sp>
        <p:nvSpPr>
          <p:cNvPr id="20" name="Text 13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1B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Benefits &amp; Target Users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94960" cy="4709160"/>
          </a:xfrm>
          <a:prstGeom prst="roundRect">
            <a:avLst>
              <a:gd name="adj" fmla="val 2330"/>
            </a:avLst>
          </a:prstGeom>
          <a:solidFill>
            <a:srgbClr val="EEF0FF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6916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1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68680" y="2194560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2313432"/>
            <a:ext cx="219456" cy="2194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90472" y="2167128"/>
            <a:ext cx="4133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1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source of truth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490472" y="2432304"/>
            <a:ext cx="4133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system instead of scattered chats and sheets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868680" y="3108960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3227832"/>
            <a:ext cx="219456" cy="2194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90472" y="3081528"/>
            <a:ext cx="4133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1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task turnaround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1490472" y="3346704"/>
            <a:ext cx="4133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clear next action at every stage of a task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68680" y="4023360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4142232"/>
            <a:ext cx="219456" cy="21945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490472" y="3995928"/>
            <a:ext cx="4133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1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transparency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1490472" y="4261104"/>
            <a:ext cx="4133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change is attributable and time-stamped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868680" y="4937760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5056632"/>
            <a:ext cx="219456" cy="21945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490472" y="4910328"/>
            <a:ext cx="4133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1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Enterprise-grade foundation</a:t>
            </a:r>
            <a:endParaRPr lang="en-US" sz="1500" dirty="0"/>
          </a:p>
        </p:txBody>
      </p:sp>
      <p:sp>
        <p:nvSpPr>
          <p:cNvPr id="21" name="Text 15"/>
          <p:cNvSpPr/>
          <p:nvPr/>
        </p:nvSpPr>
        <p:spPr>
          <a:xfrm>
            <a:off x="1490472" y="5175504"/>
            <a:ext cx="4133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Architecture makes future features low-risk to add</a:t>
            </a:r>
            <a:endParaRPr lang="en-US" sz="1150" dirty="0"/>
          </a:p>
        </p:txBody>
      </p:sp>
      <p:sp>
        <p:nvSpPr>
          <p:cNvPr id="22" name="Shape 16"/>
          <p:cNvSpPr/>
          <p:nvPr/>
        </p:nvSpPr>
        <p:spPr>
          <a:xfrm>
            <a:off x="6217920" y="1463040"/>
            <a:ext cx="5394960" cy="4709160"/>
          </a:xfrm>
          <a:prstGeom prst="roundRect">
            <a:avLst>
              <a:gd name="adj" fmla="val 2330"/>
            </a:avLst>
          </a:prstGeom>
          <a:solidFill>
            <a:srgbClr val="FAFBFC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6537960" y="16916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1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Users</a:t>
            </a:r>
            <a:endParaRPr lang="en-US" sz="1500" dirty="0"/>
          </a:p>
        </p:txBody>
      </p:sp>
      <p:sp>
        <p:nvSpPr>
          <p:cNvPr id="24" name="Shape 18"/>
          <p:cNvSpPr/>
          <p:nvPr/>
        </p:nvSpPr>
        <p:spPr>
          <a:xfrm>
            <a:off x="6537960" y="2194560"/>
            <a:ext cx="457200" cy="457200"/>
          </a:xfrm>
          <a:prstGeom prst="ellipse">
            <a:avLst/>
          </a:prstGeom>
          <a:solidFill>
            <a:srgbClr val="4338CA"/>
          </a:solidFill>
          <a:ln/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6832" y="2313432"/>
            <a:ext cx="219456" cy="21945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159752" y="2167128"/>
            <a:ext cx="4133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1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500" dirty="0"/>
          </a:p>
        </p:txBody>
      </p:sp>
      <p:sp>
        <p:nvSpPr>
          <p:cNvPr id="27" name="Text 20"/>
          <p:cNvSpPr/>
          <p:nvPr/>
        </p:nvSpPr>
        <p:spPr>
          <a:xfrm>
            <a:off x="7159752" y="2432304"/>
            <a:ext cx="4133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system oversight and user management</a:t>
            </a:r>
            <a:endParaRPr lang="en-US" sz="1150" dirty="0"/>
          </a:p>
        </p:txBody>
      </p:sp>
      <p:sp>
        <p:nvSpPr>
          <p:cNvPr id="28" name="Shape 21"/>
          <p:cNvSpPr/>
          <p:nvPr/>
        </p:nvSpPr>
        <p:spPr>
          <a:xfrm>
            <a:off x="6537960" y="3108960"/>
            <a:ext cx="457200" cy="457200"/>
          </a:xfrm>
          <a:prstGeom prst="ellipse">
            <a:avLst/>
          </a:prstGeom>
          <a:solidFill>
            <a:srgbClr val="4338CA"/>
          </a:solidFill>
          <a:ln/>
        </p:spPr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6832" y="3227832"/>
            <a:ext cx="219456" cy="219456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7159752" y="3081528"/>
            <a:ext cx="4133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1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Manager</a:t>
            </a:r>
            <a:endParaRPr lang="en-US" sz="1500" dirty="0"/>
          </a:p>
        </p:txBody>
      </p:sp>
      <p:sp>
        <p:nvSpPr>
          <p:cNvPr id="31" name="Text 23"/>
          <p:cNvSpPr/>
          <p:nvPr/>
        </p:nvSpPr>
        <p:spPr>
          <a:xfrm>
            <a:off x="7159752" y="3346704"/>
            <a:ext cx="4133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projects, assigns tasks, responds to clarifications</a:t>
            </a:r>
            <a:endParaRPr lang="en-US" sz="1150" dirty="0"/>
          </a:p>
        </p:txBody>
      </p:sp>
      <p:sp>
        <p:nvSpPr>
          <p:cNvPr id="32" name="Shape 24"/>
          <p:cNvSpPr/>
          <p:nvPr/>
        </p:nvSpPr>
        <p:spPr>
          <a:xfrm>
            <a:off x="6537960" y="4023360"/>
            <a:ext cx="457200" cy="457200"/>
          </a:xfrm>
          <a:prstGeom prst="ellipse">
            <a:avLst/>
          </a:prstGeom>
          <a:solidFill>
            <a:srgbClr val="4338CA"/>
          </a:solidFill>
          <a:ln/>
        </p:spPr>
      </p:sp>
      <p:pic>
        <p:nvPicPr>
          <p:cNvPr id="33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6832" y="4142232"/>
            <a:ext cx="219456" cy="219456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7159752" y="3995928"/>
            <a:ext cx="4133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1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</a:t>
            </a:r>
            <a:endParaRPr lang="en-US" sz="1500" dirty="0"/>
          </a:p>
        </p:txBody>
      </p:sp>
      <p:sp>
        <p:nvSpPr>
          <p:cNvPr id="35" name="Text 26"/>
          <p:cNvSpPr/>
          <p:nvPr/>
        </p:nvSpPr>
        <p:spPr>
          <a:xfrm>
            <a:off x="7159752" y="4261104"/>
            <a:ext cx="4133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Accepts tasks, updates status, logs work</a:t>
            </a:r>
            <a:endParaRPr lang="en-US" sz="1150" dirty="0"/>
          </a:p>
        </p:txBody>
      </p:sp>
      <p:sp>
        <p:nvSpPr>
          <p:cNvPr id="36" name="Shape 27"/>
          <p:cNvSpPr/>
          <p:nvPr/>
        </p:nvSpPr>
        <p:spPr>
          <a:xfrm>
            <a:off x="6537960" y="4937760"/>
            <a:ext cx="457200" cy="457200"/>
          </a:xfrm>
          <a:prstGeom prst="ellipse">
            <a:avLst/>
          </a:prstGeom>
          <a:solidFill>
            <a:srgbClr val="4338CA"/>
          </a:solidFill>
          <a:ln/>
        </p:spPr>
      </p:sp>
      <p:pic>
        <p:nvPicPr>
          <p:cNvPr id="37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6832" y="5056632"/>
            <a:ext cx="219456" cy="219456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7159752" y="4910328"/>
            <a:ext cx="4133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1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500" dirty="0"/>
          </a:p>
        </p:txBody>
      </p:sp>
      <p:sp>
        <p:nvSpPr>
          <p:cNvPr id="39" name="Text 29"/>
          <p:cNvSpPr/>
          <p:nvPr/>
        </p:nvSpPr>
        <p:spPr>
          <a:xfrm>
            <a:off x="7159752" y="5175504"/>
            <a:ext cx="4133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 project progress and outcomes</a:t>
            </a:r>
            <a:endParaRPr lang="en-US" sz="1150" dirty="0"/>
          </a:p>
        </p:txBody>
      </p:sp>
      <p:sp>
        <p:nvSpPr>
          <p:cNvPr id="40" name="Text 30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NexusFlow — Summer Training Review</a:t>
            </a:r>
            <a:endParaRPr lang="en-US" sz="900" dirty="0"/>
          </a:p>
        </p:txBody>
      </p:sp>
      <p:sp>
        <p:nvSpPr>
          <p:cNvPr id="41" name="Text 31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WRAPPING 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1B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Future Scope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94960" cy="4709160"/>
          </a:xfrm>
          <a:prstGeom prst="roundRect">
            <a:avLst>
              <a:gd name="adj" fmla="val 2330"/>
            </a:avLst>
          </a:prstGeom>
          <a:solidFill>
            <a:srgbClr val="FAFBFC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6916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1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68680" y="2194560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2313432"/>
            <a:ext cx="219456" cy="2194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90472" y="2167128"/>
            <a:ext cx="4133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1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system, built solo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490472" y="2432304"/>
            <a:ext cx="4133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frontend, ASP.NET Core backend, SQL Server — fully working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868680" y="3154680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3273552"/>
            <a:ext cx="219456" cy="2194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90472" y="3127248"/>
            <a:ext cx="4133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1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workflow, not just CRUD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1490472" y="3392424"/>
            <a:ext cx="4133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Assign, accept, clarify, update, and track — with an audit trail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68680" y="4114800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4233672"/>
            <a:ext cx="219456" cy="21945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490472" y="4087368"/>
            <a:ext cx="4133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1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Production-oriented practices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1490472" y="4352544"/>
            <a:ext cx="4133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Architecture, Repository + Unit of Work, DTO validation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6217920" y="1463040"/>
            <a:ext cx="5394960" cy="4709160"/>
          </a:xfrm>
          <a:prstGeom prst="roundRect">
            <a:avLst>
              <a:gd name="adj" fmla="val 2330"/>
            </a:avLst>
          </a:prstGeom>
          <a:solidFill>
            <a:srgbClr val="EEF0FF"/>
          </a:solidFill>
          <a:ln/>
        </p:spPr>
      </p:sp>
      <p:sp>
        <p:nvSpPr>
          <p:cNvPr id="19" name="Text 14"/>
          <p:cNvSpPr/>
          <p:nvPr/>
        </p:nvSpPr>
        <p:spPr>
          <a:xfrm>
            <a:off x="6537960" y="16916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1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500" dirty="0"/>
          </a:p>
        </p:txBody>
      </p:sp>
      <p:sp>
        <p:nvSpPr>
          <p:cNvPr id="20" name="Shape 15"/>
          <p:cNvSpPr/>
          <p:nvPr/>
        </p:nvSpPr>
        <p:spPr>
          <a:xfrm>
            <a:off x="6537960" y="2194560"/>
            <a:ext cx="457200" cy="457200"/>
          </a:xfrm>
          <a:prstGeom prst="ellipse">
            <a:avLst/>
          </a:prstGeom>
          <a:solidFill>
            <a:srgbClr val="4338CA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6832" y="2313432"/>
            <a:ext cx="219456" cy="21945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159752" y="2167128"/>
            <a:ext cx="4133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1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role-based access control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7159752" y="2432304"/>
            <a:ext cx="4133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 the 4-role model on every endpoint, not just some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6537960" y="3154680"/>
            <a:ext cx="457200" cy="457200"/>
          </a:xfrm>
          <a:prstGeom prst="ellipse">
            <a:avLst/>
          </a:prstGeom>
          <a:solidFill>
            <a:srgbClr val="4338CA"/>
          </a:solidFill>
          <a:ln/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6832" y="3273552"/>
            <a:ext cx="219456" cy="21945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159752" y="3127248"/>
            <a:ext cx="4133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1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 management UI</a:t>
            </a:r>
            <a:endParaRPr lang="en-US" sz="1500" dirty="0"/>
          </a:p>
        </p:txBody>
      </p:sp>
      <p:sp>
        <p:nvSpPr>
          <p:cNvPr id="27" name="Text 20"/>
          <p:cNvSpPr/>
          <p:nvPr/>
        </p:nvSpPr>
        <p:spPr>
          <a:xfrm>
            <a:off x="7159752" y="3392424"/>
            <a:ext cx="4133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Admin-managed departments and teams</a:t>
            </a:r>
            <a:endParaRPr lang="en-US" sz="1150" dirty="0"/>
          </a:p>
        </p:txBody>
      </p:sp>
      <p:sp>
        <p:nvSpPr>
          <p:cNvPr id="28" name="Shape 21"/>
          <p:cNvSpPr/>
          <p:nvPr/>
        </p:nvSpPr>
        <p:spPr>
          <a:xfrm>
            <a:off x="6537960" y="4114800"/>
            <a:ext cx="457200" cy="457200"/>
          </a:xfrm>
          <a:prstGeom prst="ellipse">
            <a:avLst/>
          </a:prstGeom>
          <a:solidFill>
            <a:srgbClr val="4338CA"/>
          </a:solidFill>
          <a:ln/>
        </p:spPr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6832" y="4233672"/>
            <a:ext cx="219456" cy="219456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7159752" y="4087368"/>
            <a:ext cx="4133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1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 &amp; meeting scheduling</a:t>
            </a:r>
            <a:endParaRPr lang="en-US" sz="1500" dirty="0"/>
          </a:p>
        </p:txBody>
      </p:sp>
      <p:sp>
        <p:nvSpPr>
          <p:cNvPr id="31" name="Text 23"/>
          <p:cNvSpPr/>
          <p:nvPr/>
        </p:nvSpPr>
        <p:spPr>
          <a:xfrm>
            <a:off x="7159752" y="4352544"/>
            <a:ext cx="4133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Deadlines and events in a shared calendar view</a:t>
            </a:r>
            <a:endParaRPr lang="en-US" sz="1150" dirty="0"/>
          </a:p>
        </p:txBody>
      </p:sp>
      <p:sp>
        <p:nvSpPr>
          <p:cNvPr id="32" name="Shape 24"/>
          <p:cNvSpPr/>
          <p:nvPr/>
        </p:nvSpPr>
        <p:spPr>
          <a:xfrm>
            <a:off x="6537960" y="5074920"/>
            <a:ext cx="457200" cy="457200"/>
          </a:xfrm>
          <a:prstGeom prst="ellipse">
            <a:avLst/>
          </a:prstGeom>
          <a:solidFill>
            <a:srgbClr val="4338CA"/>
          </a:solidFill>
          <a:ln/>
        </p:spPr>
      </p:sp>
      <p:pic>
        <p:nvPicPr>
          <p:cNvPr id="33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6832" y="5193792"/>
            <a:ext cx="219456" cy="219456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7159752" y="5047488"/>
            <a:ext cx="4133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1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manager &amp; advanced reports</a:t>
            </a:r>
            <a:endParaRPr lang="en-US" sz="1500" dirty="0"/>
          </a:p>
        </p:txBody>
      </p:sp>
      <p:sp>
        <p:nvSpPr>
          <p:cNvPr id="35" name="Text 26"/>
          <p:cNvSpPr/>
          <p:nvPr/>
        </p:nvSpPr>
        <p:spPr>
          <a:xfrm>
            <a:off x="7159752" y="5312664"/>
            <a:ext cx="4133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sharing, PDF/Excel exports</a:t>
            </a:r>
            <a:endParaRPr lang="en-US" sz="1150" dirty="0"/>
          </a:p>
        </p:txBody>
      </p:sp>
      <p:sp>
        <p:nvSpPr>
          <p:cNvPr id="36" name="Text 27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NexusFlow — Summer Training Review</a:t>
            </a:r>
            <a:endParaRPr lang="en-US" sz="900" dirty="0"/>
          </a:p>
        </p:txBody>
      </p:sp>
      <p:sp>
        <p:nvSpPr>
          <p:cNvPr id="37" name="Text 28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82996" y="2011680"/>
            <a:ext cx="822960" cy="822960"/>
          </a:xfrm>
          <a:prstGeom prst="ellipse">
            <a:avLst/>
          </a:prstGeom>
          <a:solidFill>
            <a:srgbClr val="6D63EE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6966" y="2225650"/>
            <a:ext cx="395021" cy="39502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3063240"/>
            <a:ext cx="12188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0" y="384048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9C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0" y="6035040"/>
            <a:ext cx="12188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08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NexusFlow  ·  Harsh Mishra  ·  04613702025</a:t>
            </a:r>
            <a:endParaRPr lang="en-US" sz="1100" dirty="0"/>
          </a:p>
        </p:txBody>
      </p:sp>
      <p:pic>
        <p:nvPicPr>
          <p:cNvPr id="1026" name="Picture 2" descr="Github Logo - Free social media icons">
            <a:extLst>
              <a:ext uri="{FF2B5EF4-FFF2-40B4-BE49-F238E27FC236}">
                <a16:creationId xmlns:a16="http://schemas.microsoft.com/office/drawing/2014/main" id="{CC5CE463-A08D-86D1-F4FD-DDFCF9B01F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00" y="4663440"/>
            <a:ext cx="274319" cy="274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Linkedin logo png, Linkedin icon transparent png 18930480 PNG">
            <a:extLst>
              <a:ext uri="{FF2B5EF4-FFF2-40B4-BE49-F238E27FC236}">
                <a16:creationId xmlns:a16="http://schemas.microsoft.com/office/drawing/2014/main" id="{AE863DAB-7D93-D72D-F22C-670EFC9B29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8467" y="4937761"/>
            <a:ext cx="4572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4" name="Picture 20" descr="email and mail icon black 20009614 PNG">
            <a:extLst>
              <a:ext uri="{FF2B5EF4-FFF2-40B4-BE49-F238E27FC236}">
                <a16:creationId xmlns:a16="http://schemas.microsoft.com/office/drawing/2014/main" id="{A6EEEFDD-14E8-E0E9-B4E8-E683D4BCCC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39" y="5417818"/>
            <a:ext cx="320040" cy="320040"/>
          </a:xfrm>
          <a:prstGeom prst="rect">
            <a:avLst/>
          </a:prstGeom>
          <a:solidFill>
            <a:schemeClr val="tx1"/>
          </a:solidFill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EAD68C0-C463-FF12-4614-C6E252E38F45}"/>
              </a:ext>
            </a:extLst>
          </p:cNvPr>
          <p:cNvSpPr txBox="1"/>
          <p:nvPr/>
        </p:nvSpPr>
        <p:spPr>
          <a:xfrm>
            <a:off x="375919" y="4663440"/>
            <a:ext cx="20027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https://github.com/harsh-nix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E03C98A-EED1-9DD0-5123-EA06161AF2E1}"/>
              </a:ext>
            </a:extLst>
          </p:cNvPr>
          <p:cNvSpPr txBox="1"/>
          <p:nvPr/>
        </p:nvSpPr>
        <p:spPr>
          <a:xfrm>
            <a:off x="375919" y="5029130"/>
            <a:ext cx="21516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www.linkedin.com/in/harsh-nix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EEC2350-1B13-F26B-6EE1-4D3E19CA7145}"/>
              </a:ext>
            </a:extLst>
          </p:cNvPr>
          <p:cNvSpPr txBox="1"/>
          <p:nvPr/>
        </p:nvSpPr>
        <p:spPr>
          <a:xfrm>
            <a:off x="351905" y="5389671"/>
            <a:ext cx="19402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harshmishra85@yahoo.com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1370</Words>
  <Application>Microsoft Office PowerPoint</Application>
  <PresentationFormat>Widescreen</PresentationFormat>
  <Paragraphs>213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Abhishek mishra</cp:lastModifiedBy>
  <cp:revision>3</cp:revision>
  <dcterms:created xsi:type="dcterms:W3CDTF">2026-07-25T05:00:15Z</dcterms:created>
  <dcterms:modified xsi:type="dcterms:W3CDTF">2026-07-26T10:53:39Z</dcterms:modified>
</cp:coreProperties>
</file>